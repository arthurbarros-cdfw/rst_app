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270" r:id="rId2"/>
    <p:sldId id="281" r:id="rId3"/>
    <p:sldId id="303" r:id="rId4"/>
    <p:sldId id="323" r:id="rId5"/>
    <p:sldId id="305" r:id="rId6"/>
    <p:sldId id="306" r:id="rId7"/>
    <p:sldId id="304" r:id="rId8"/>
    <p:sldId id="276" r:id="rId9"/>
    <p:sldId id="324" r:id="rId10"/>
    <p:sldId id="325" r:id="rId11"/>
    <p:sldId id="307" r:id="rId12"/>
    <p:sldId id="313" r:id="rId13"/>
    <p:sldId id="309" r:id="rId14"/>
    <p:sldId id="308" r:id="rId15"/>
    <p:sldId id="314" r:id="rId16"/>
    <p:sldId id="312" r:id="rId17"/>
    <p:sldId id="301" r:id="rId18"/>
    <p:sldId id="317" r:id="rId19"/>
    <p:sldId id="316" r:id="rId20"/>
    <p:sldId id="318" r:id="rId21"/>
    <p:sldId id="315" r:id="rId22"/>
    <p:sldId id="320" r:id="rId23"/>
    <p:sldId id="319" r:id="rId24"/>
    <p:sldId id="322" r:id="rId25"/>
    <p:sldId id="321" r:id="rId26"/>
    <p:sldId id="299" r:id="rId27"/>
    <p:sldId id="300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664B34D-1725-42AE-B4F9-01F363C26DB8}" v="25" dt="2026-08-28T19:10:02.41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778" autoAdjust="0"/>
    <p:restoredTop sz="94660"/>
  </p:normalViewPr>
  <p:slideViewPr>
    <p:cSldViewPr snapToGrid="0">
      <p:cViewPr>
        <p:scale>
          <a:sx n="100" d="100"/>
          <a:sy n="100" d="100"/>
        </p:scale>
        <p:origin x="948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arros, Arthur@Wildlife" userId="13f56b0b-3529-4413-b3c2-bd9e153a9954" providerId="ADAL" clId="{83F66843-D3E2-4209-914A-087BF0EB956C}"/>
    <pc:docChg chg="undo custSel addSld delSld modSld sldOrd">
      <pc:chgData name="Barros, Arthur@Wildlife" userId="13f56b0b-3529-4413-b3c2-bd9e153a9954" providerId="ADAL" clId="{83F66843-D3E2-4209-914A-087BF0EB956C}" dt="2026-08-28T19:10:02.410" v="5170" actId="164"/>
      <pc:docMkLst>
        <pc:docMk/>
      </pc:docMkLst>
      <pc:sldChg chg="modSp mod">
        <pc:chgData name="Barros, Arthur@Wildlife" userId="13f56b0b-3529-4413-b3c2-bd9e153a9954" providerId="ADAL" clId="{83F66843-D3E2-4209-914A-087BF0EB956C}" dt="2026-08-27T21:54:51.946" v="4736" actId="20577"/>
        <pc:sldMkLst>
          <pc:docMk/>
          <pc:sldMk cId="291410532" sldId="276"/>
        </pc:sldMkLst>
        <pc:spChg chg="mod">
          <ac:chgData name="Barros, Arthur@Wildlife" userId="13f56b0b-3529-4413-b3c2-bd9e153a9954" providerId="ADAL" clId="{83F66843-D3E2-4209-914A-087BF0EB956C}" dt="2026-08-27T21:54:51.946" v="4736" actId="20577"/>
          <ac:spMkLst>
            <pc:docMk/>
            <pc:sldMk cId="291410532" sldId="276"/>
            <ac:spMk id="30" creationId="{DEEA24D1-B2C4-ECEF-247D-D1E3C3B0FD1D}"/>
          </ac:spMkLst>
        </pc:spChg>
      </pc:sldChg>
      <pc:sldChg chg="addSp delSp modSp add mod">
        <pc:chgData name="Barros, Arthur@Wildlife" userId="13f56b0b-3529-4413-b3c2-bd9e153a9954" providerId="ADAL" clId="{83F66843-D3E2-4209-914A-087BF0EB956C}" dt="2026-08-28T16:12:49.450" v="4791" actId="14100"/>
        <pc:sldMkLst>
          <pc:docMk/>
          <pc:sldMk cId="3760970710" sldId="324"/>
        </pc:sldMkLst>
        <pc:spChg chg="mod">
          <ac:chgData name="Barros, Arthur@Wildlife" userId="13f56b0b-3529-4413-b3c2-bd9e153a9954" providerId="ADAL" clId="{83F66843-D3E2-4209-914A-087BF0EB956C}" dt="2026-08-27T21:26:28.541" v="4704" actId="208"/>
          <ac:spMkLst>
            <pc:docMk/>
            <pc:sldMk cId="3760970710" sldId="324"/>
            <ac:spMk id="3" creationId="{78FAED5F-8E39-B3AA-593C-F1EAAC0D4B15}"/>
          </ac:spMkLst>
        </pc:spChg>
        <pc:spChg chg="del">
          <ac:chgData name="Barros, Arthur@Wildlife" userId="13f56b0b-3529-4413-b3c2-bd9e153a9954" providerId="ADAL" clId="{83F66843-D3E2-4209-914A-087BF0EB956C}" dt="2026-08-27T21:24:56.023" v="4667" actId="478"/>
          <ac:spMkLst>
            <pc:docMk/>
            <pc:sldMk cId="3760970710" sldId="324"/>
            <ac:spMk id="5" creationId="{DBCBA2AB-863A-341B-E753-F7EEA868CBBC}"/>
          </ac:spMkLst>
        </pc:spChg>
        <pc:spChg chg="mod">
          <ac:chgData name="Barros, Arthur@Wildlife" userId="13f56b0b-3529-4413-b3c2-bd9e153a9954" providerId="ADAL" clId="{83F66843-D3E2-4209-914A-087BF0EB956C}" dt="2026-08-28T16:11:23.061" v="4773" actId="1076"/>
          <ac:spMkLst>
            <pc:docMk/>
            <pc:sldMk cId="3760970710" sldId="324"/>
            <ac:spMk id="8" creationId="{AFBB38C9-AEF4-1E4A-C8B9-E205E7801983}"/>
          </ac:spMkLst>
        </pc:spChg>
        <pc:spChg chg="mod">
          <ac:chgData name="Barros, Arthur@Wildlife" userId="13f56b0b-3529-4413-b3c2-bd9e153a9954" providerId="ADAL" clId="{83F66843-D3E2-4209-914A-087BF0EB956C}" dt="2026-08-28T16:12:34.732" v="4786" actId="478"/>
          <ac:spMkLst>
            <pc:docMk/>
            <pc:sldMk cId="3760970710" sldId="324"/>
            <ac:spMk id="9" creationId="{8E4242D5-C48B-5DAB-0CF2-33F55BE927FB}"/>
          </ac:spMkLst>
        </pc:spChg>
        <pc:spChg chg="mod">
          <ac:chgData name="Barros, Arthur@Wildlife" userId="13f56b0b-3529-4413-b3c2-bd9e153a9954" providerId="ADAL" clId="{83F66843-D3E2-4209-914A-087BF0EB956C}" dt="2026-08-28T16:12:34.732" v="4786" actId="478"/>
          <ac:spMkLst>
            <pc:docMk/>
            <pc:sldMk cId="3760970710" sldId="324"/>
            <ac:spMk id="10" creationId="{960F8851-7CB5-4A56-2E78-2A4FC6E9CF61}"/>
          </ac:spMkLst>
        </pc:spChg>
        <pc:spChg chg="mod">
          <ac:chgData name="Barros, Arthur@Wildlife" userId="13f56b0b-3529-4413-b3c2-bd9e153a9954" providerId="ADAL" clId="{83F66843-D3E2-4209-914A-087BF0EB956C}" dt="2026-08-28T16:12:34.732" v="4786" actId="478"/>
          <ac:spMkLst>
            <pc:docMk/>
            <pc:sldMk cId="3760970710" sldId="324"/>
            <ac:spMk id="12" creationId="{A090DD2E-38E6-64E3-AB8E-5A3BDDC2169E}"/>
          </ac:spMkLst>
        </pc:spChg>
        <pc:spChg chg="mod">
          <ac:chgData name="Barros, Arthur@Wildlife" userId="13f56b0b-3529-4413-b3c2-bd9e153a9954" providerId="ADAL" clId="{83F66843-D3E2-4209-914A-087BF0EB956C}" dt="2026-08-28T16:12:34.732" v="4786" actId="478"/>
          <ac:spMkLst>
            <pc:docMk/>
            <pc:sldMk cId="3760970710" sldId="324"/>
            <ac:spMk id="15" creationId="{7A381505-775B-398B-4DAA-CA228C9D351D}"/>
          </ac:spMkLst>
        </pc:spChg>
        <pc:spChg chg="mod">
          <ac:chgData name="Barros, Arthur@Wildlife" userId="13f56b0b-3529-4413-b3c2-bd9e153a9954" providerId="ADAL" clId="{83F66843-D3E2-4209-914A-087BF0EB956C}" dt="2026-08-28T16:12:34.732" v="4786" actId="478"/>
          <ac:spMkLst>
            <pc:docMk/>
            <pc:sldMk cId="3760970710" sldId="324"/>
            <ac:spMk id="24" creationId="{09BA1585-19D1-E616-2EC1-F73BA95FAA06}"/>
          </ac:spMkLst>
        </pc:spChg>
        <pc:spChg chg="add mod">
          <ac:chgData name="Barros, Arthur@Wildlife" userId="13f56b0b-3529-4413-b3c2-bd9e153a9954" providerId="ADAL" clId="{83F66843-D3E2-4209-914A-087BF0EB956C}" dt="2026-08-28T16:12:06.386" v="4782" actId="1076"/>
          <ac:spMkLst>
            <pc:docMk/>
            <pc:sldMk cId="3760970710" sldId="324"/>
            <ac:spMk id="25" creationId="{F11A58D6-89E7-FE3E-7DA5-AE3C84D0873A}"/>
          </ac:spMkLst>
        </pc:spChg>
        <pc:spChg chg="mod">
          <ac:chgData name="Barros, Arthur@Wildlife" userId="13f56b0b-3529-4413-b3c2-bd9e153a9954" providerId="ADAL" clId="{83F66843-D3E2-4209-914A-087BF0EB956C}" dt="2026-08-27T21:55:00.019" v="4756" actId="14100"/>
          <ac:spMkLst>
            <pc:docMk/>
            <pc:sldMk cId="3760970710" sldId="324"/>
            <ac:spMk id="30" creationId="{3ACF69F6-7EFE-AC2B-5B7F-64F7BC9652DD}"/>
          </ac:spMkLst>
        </pc:spChg>
        <pc:spChg chg="add mod">
          <ac:chgData name="Barros, Arthur@Wildlife" userId="13f56b0b-3529-4413-b3c2-bd9e153a9954" providerId="ADAL" clId="{83F66843-D3E2-4209-914A-087BF0EB956C}" dt="2026-08-28T16:12:04.001" v="4781" actId="14100"/>
          <ac:spMkLst>
            <pc:docMk/>
            <pc:sldMk cId="3760970710" sldId="324"/>
            <ac:spMk id="38" creationId="{B79BD2BB-0E03-8238-1074-D3C25B29CA97}"/>
          </ac:spMkLst>
        </pc:spChg>
        <pc:spChg chg="mod">
          <ac:chgData name="Barros, Arthur@Wildlife" userId="13f56b0b-3529-4413-b3c2-bd9e153a9954" providerId="ADAL" clId="{83F66843-D3E2-4209-914A-087BF0EB956C}" dt="2026-08-28T16:12:34.732" v="4786" actId="478"/>
          <ac:spMkLst>
            <pc:docMk/>
            <pc:sldMk cId="3760970710" sldId="324"/>
            <ac:spMk id="1031" creationId="{AE065C8F-19BC-132B-469B-CFC1BE308816}"/>
          </ac:spMkLst>
        </pc:spChg>
        <pc:spChg chg="mod">
          <ac:chgData name="Barros, Arthur@Wildlife" userId="13f56b0b-3529-4413-b3c2-bd9e153a9954" providerId="ADAL" clId="{83F66843-D3E2-4209-914A-087BF0EB956C}" dt="2026-08-28T16:12:34.732" v="4786" actId="478"/>
          <ac:spMkLst>
            <pc:docMk/>
            <pc:sldMk cId="3760970710" sldId="324"/>
            <ac:spMk id="1071" creationId="{6C884AB9-710D-6F39-34A2-C50FA1F7A618}"/>
          </ac:spMkLst>
        </pc:spChg>
        <pc:spChg chg="mod">
          <ac:chgData name="Barros, Arthur@Wildlife" userId="13f56b0b-3529-4413-b3c2-bd9e153a9954" providerId="ADAL" clId="{83F66843-D3E2-4209-914A-087BF0EB956C}" dt="2026-08-27T21:25:55.204" v="4694" actId="14100"/>
          <ac:spMkLst>
            <pc:docMk/>
            <pc:sldMk cId="3760970710" sldId="324"/>
            <ac:spMk id="1076" creationId="{C0CBF0DE-FCF2-A501-9798-702D50A3B20E}"/>
          </ac:spMkLst>
        </pc:spChg>
        <pc:spChg chg="mod">
          <ac:chgData name="Barros, Arthur@Wildlife" userId="13f56b0b-3529-4413-b3c2-bd9e153a9954" providerId="ADAL" clId="{83F66843-D3E2-4209-914A-087BF0EB956C}" dt="2026-08-28T16:12:34.732" v="4786" actId="478"/>
          <ac:spMkLst>
            <pc:docMk/>
            <pc:sldMk cId="3760970710" sldId="324"/>
            <ac:spMk id="1084" creationId="{CE694AD2-C440-443C-CD49-2841BA0F2A20}"/>
          </ac:spMkLst>
        </pc:spChg>
        <pc:spChg chg="mod">
          <ac:chgData name="Barros, Arthur@Wildlife" userId="13f56b0b-3529-4413-b3c2-bd9e153a9954" providerId="ADAL" clId="{83F66843-D3E2-4209-914A-087BF0EB956C}" dt="2026-08-28T16:12:34.732" v="4786" actId="478"/>
          <ac:spMkLst>
            <pc:docMk/>
            <pc:sldMk cId="3760970710" sldId="324"/>
            <ac:spMk id="1097" creationId="{26049915-591B-7E21-BEF1-A1201B5AD22F}"/>
          </ac:spMkLst>
        </pc:spChg>
        <pc:spChg chg="mod">
          <ac:chgData name="Barros, Arthur@Wildlife" userId="13f56b0b-3529-4413-b3c2-bd9e153a9954" providerId="ADAL" clId="{83F66843-D3E2-4209-914A-087BF0EB956C}" dt="2026-08-28T16:12:34.732" v="4786" actId="478"/>
          <ac:spMkLst>
            <pc:docMk/>
            <pc:sldMk cId="3760970710" sldId="324"/>
            <ac:spMk id="1103" creationId="{44F67654-419B-FE7E-A3B3-1638D90F19C9}"/>
          </ac:spMkLst>
        </pc:spChg>
        <pc:grpChg chg="del">
          <ac:chgData name="Barros, Arthur@Wildlife" userId="13f56b0b-3529-4413-b3c2-bd9e153a9954" providerId="ADAL" clId="{83F66843-D3E2-4209-914A-087BF0EB956C}" dt="2026-08-27T21:24:56.023" v="4667" actId="478"/>
          <ac:grpSpMkLst>
            <pc:docMk/>
            <pc:sldMk cId="3760970710" sldId="324"/>
            <ac:grpSpMk id="6" creationId="{0589B6A4-F2E4-98B6-BA26-FB6923FFFD0D}"/>
          </ac:grpSpMkLst>
        </pc:grpChg>
        <pc:grpChg chg="mod">
          <ac:chgData name="Barros, Arthur@Wildlife" userId="13f56b0b-3529-4413-b3c2-bd9e153a9954" providerId="ADAL" clId="{83F66843-D3E2-4209-914A-087BF0EB956C}" dt="2026-08-28T16:12:46.292" v="4790" actId="1076"/>
          <ac:grpSpMkLst>
            <pc:docMk/>
            <pc:sldMk cId="3760970710" sldId="324"/>
            <ac:grpSpMk id="14" creationId="{19F0F3A1-17A4-628A-DF2B-B6D7FD5428C6}"/>
          </ac:grpSpMkLst>
        </pc:grpChg>
        <pc:picChg chg="add mod">
          <ac:chgData name="Barros, Arthur@Wildlife" userId="13f56b0b-3529-4413-b3c2-bd9e153a9954" providerId="ADAL" clId="{83F66843-D3E2-4209-914A-087BF0EB956C}" dt="2026-08-28T16:12:41.571" v="4789" actId="1076"/>
          <ac:picMkLst>
            <pc:docMk/>
            <pc:sldMk cId="3760970710" sldId="324"/>
            <ac:picMk id="40" creationId="{FF027105-16BE-9317-2695-FA8B382F0698}"/>
          </ac:picMkLst>
        </pc:picChg>
        <pc:cxnChg chg="mod">
          <ac:chgData name="Barros, Arthur@Wildlife" userId="13f56b0b-3529-4413-b3c2-bd9e153a9954" providerId="ADAL" clId="{83F66843-D3E2-4209-914A-087BF0EB956C}" dt="2026-08-27T21:55:09.532" v="4760" actId="14100"/>
          <ac:cxnSpMkLst>
            <pc:docMk/>
            <pc:sldMk cId="3760970710" sldId="324"/>
            <ac:cxnSpMk id="18" creationId="{0CDF33E7-C58F-4393-8B41-3761AC835FE5}"/>
          </ac:cxnSpMkLst>
        </pc:cxnChg>
        <pc:cxnChg chg="add mod">
          <ac:chgData name="Barros, Arthur@Wildlife" userId="13f56b0b-3529-4413-b3c2-bd9e153a9954" providerId="ADAL" clId="{83F66843-D3E2-4209-914A-087BF0EB956C}" dt="2026-08-28T16:12:49.450" v="4791" actId="14100"/>
          <ac:cxnSpMkLst>
            <pc:docMk/>
            <pc:sldMk cId="3760970710" sldId="324"/>
            <ac:cxnSpMk id="29" creationId="{2554F3ED-77F0-6A77-8A88-C6645146A304}"/>
          </ac:cxnSpMkLst>
        </pc:cxnChg>
        <pc:cxnChg chg="mod">
          <ac:chgData name="Barros, Arthur@Wildlife" userId="13f56b0b-3529-4413-b3c2-bd9e153a9954" providerId="ADAL" clId="{83F66843-D3E2-4209-914A-087BF0EB956C}" dt="2026-08-27T21:57:24.105" v="4770" actId="14100"/>
          <ac:cxnSpMkLst>
            <pc:docMk/>
            <pc:sldMk cId="3760970710" sldId="324"/>
            <ac:cxnSpMk id="63" creationId="{3D529E5F-E1B5-0CF2-C3BF-BC64E09F2FC9}"/>
          </ac:cxnSpMkLst>
        </pc:cxnChg>
        <pc:cxnChg chg="mod">
          <ac:chgData name="Barros, Arthur@Wildlife" userId="13f56b0b-3529-4413-b3c2-bd9e153a9954" providerId="ADAL" clId="{83F66843-D3E2-4209-914A-087BF0EB956C}" dt="2026-08-27T21:57:26.257" v="4771" actId="14100"/>
          <ac:cxnSpMkLst>
            <pc:docMk/>
            <pc:sldMk cId="3760970710" sldId="324"/>
            <ac:cxnSpMk id="1050" creationId="{97755799-F1FD-A967-F08E-9363B5C1BB4A}"/>
          </ac:cxnSpMkLst>
        </pc:cxnChg>
        <pc:cxnChg chg="mod">
          <ac:chgData name="Barros, Arthur@Wildlife" userId="13f56b0b-3529-4413-b3c2-bd9e153a9954" providerId="ADAL" clId="{83F66843-D3E2-4209-914A-087BF0EB956C}" dt="2026-08-27T21:25:27.022" v="4684" actId="1076"/>
          <ac:cxnSpMkLst>
            <pc:docMk/>
            <pc:sldMk cId="3760970710" sldId="324"/>
            <ac:cxnSpMk id="1080" creationId="{0E1FB4CC-26B5-6C21-2FCA-AB0459AE7404}"/>
          </ac:cxnSpMkLst>
        </pc:cxnChg>
        <pc:cxnChg chg="mod">
          <ac:chgData name="Barros, Arthur@Wildlife" userId="13f56b0b-3529-4413-b3c2-bd9e153a9954" providerId="ADAL" clId="{83F66843-D3E2-4209-914A-087BF0EB956C}" dt="2026-08-27T21:25:33.950" v="4687" actId="1076"/>
          <ac:cxnSpMkLst>
            <pc:docMk/>
            <pc:sldMk cId="3760970710" sldId="324"/>
            <ac:cxnSpMk id="1086" creationId="{7350637E-ACCA-1E95-4CB0-A25A67C6CF4A}"/>
          </ac:cxnSpMkLst>
        </pc:cxnChg>
        <pc:cxnChg chg="mod">
          <ac:chgData name="Barros, Arthur@Wildlife" userId="13f56b0b-3529-4413-b3c2-bd9e153a9954" providerId="ADAL" clId="{83F66843-D3E2-4209-914A-087BF0EB956C}" dt="2026-08-27T21:55:15.306" v="4762" actId="14100"/>
          <ac:cxnSpMkLst>
            <pc:docMk/>
            <pc:sldMk cId="3760970710" sldId="324"/>
            <ac:cxnSpMk id="1098" creationId="{746212D8-5515-ED52-3C7C-6F64856C03CE}"/>
          </ac:cxnSpMkLst>
        </pc:cxnChg>
        <pc:cxnChg chg="mod">
          <ac:chgData name="Barros, Arthur@Wildlife" userId="13f56b0b-3529-4413-b3c2-bd9e153a9954" providerId="ADAL" clId="{83F66843-D3E2-4209-914A-087BF0EB956C}" dt="2026-08-27T21:26:36.606" v="4708" actId="14100"/>
          <ac:cxnSpMkLst>
            <pc:docMk/>
            <pc:sldMk cId="3760970710" sldId="324"/>
            <ac:cxnSpMk id="1106" creationId="{7F4CB94D-5B75-0A3F-DCD1-917B59ABB043}"/>
          </ac:cxnSpMkLst>
        </pc:cxnChg>
      </pc:sldChg>
      <pc:sldChg chg="addSp delSp modSp add mod">
        <pc:chgData name="Barros, Arthur@Wildlife" userId="13f56b0b-3529-4413-b3c2-bd9e153a9954" providerId="ADAL" clId="{83F66843-D3E2-4209-914A-087BF0EB956C}" dt="2026-08-28T19:10:02.410" v="5170" actId="164"/>
        <pc:sldMkLst>
          <pc:docMk/>
          <pc:sldMk cId="660337578" sldId="325"/>
        </pc:sldMkLst>
        <pc:spChg chg="add del mod">
          <ac:chgData name="Barros, Arthur@Wildlife" userId="13f56b0b-3529-4413-b3c2-bd9e153a9954" providerId="ADAL" clId="{83F66843-D3E2-4209-914A-087BF0EB956C}" dt="2026-08-28T16:13:05.849" v="4795" actId="478"/>
          <ac:spMkLst>
            <pc:docMk/>
            <pc:sldMk cId="660337578" sldId="325"/>
            <ac:spMk id="5" creationId="{04C6BA6C-2364-FDD7-8306-2FEDBAF8D1DF}"/>
          </ac:spMkLst>
        </pc:spChg>
        <pc:spChg chg="del">
          <ac:chgData name="Barros, Arthur@Wildlife" userId="13f56b0b-3529-4413-b3c2-bd9e153a9954" providerId="ADAL" clId="{83F66843-D3E2-4209-914A-087BF0EB956C}" dt="2026-08-28T16:13:02.468" v="4794" actId="478"/>
          <ac:spMkLst>
            <pc:docMk/>
            <pc:sldMk cId="660337578" sldId="325"/>
            <ac:spMk id="8" creationId="{7474AAE9-B7EF-4B45-3B0C-A436E920E405}"/>
          </ac:spMkLst>
        </pc:spChg>
        <pc:spChg chg="add mod">
          <ac:chgData name="Barros, Arthur@Wildlife" userId="13f56b0b-3529-4413-b3c2-bd9e153a9954" providerId="ADAL" clId="{83F66843-D3E2-4209-914A-087BF0EB956C}" dt="2026-08-28T16:13:19.287" v="4797" actId="164"/>
          <ac:spMkLst>
            <pc:docMk/>
            <pc:sldMk cId="660337578" sldId="325"/>
            <ac:spMk id="17" creationId="{09078154-89CA-F8A2-ABE1-B536D1FCE863}"/>
          </ac:spMkLst>
        </pc:spChg>
        <pc:spChg chg="add mod">
          <ac:chgData name="Barros, Arthur@Wildlife" userId="13f56b0b-3529-4413-b3c2-bd9e153a9954" providerId="ADAL" clId="{83F66843-D3E2-4209-914A-087BF0EB956C}" dt="2026-08-28T16:13:19.287" v="4797" actId="164"/>
          <ac:spMkLst>
            <pc:docMk/>
            <pc:sldMk cId="660337578" sldId="325"/>
            <ac:spMk id="20" creationId="{6AD16278-1D22-96AD-F6E3-FB9D20E40FDF}"/>
          </ac:spMkLst>
        </pc:spChg>
        <pc:spChg chg="del">
          <ac:chgData name="Barros, Arthur@Wildlife" userId="13f56b0b-3529-4413-b3c2-bd9e153a9954" providerId="ADAL" clId="{83F66843-D3E2-4209-914A-087BF0EB956C}" dt="2026-08-28T16:12:57.160" v="4793" actId="478"/>
          <ac:spMkLst>
            <pc:docMk/>
            <pc:sldMk cId="660337578" sldId="325"/>
            <ac:spMk id="25" creationId="{947B085C-584F-B684-1732-B7045EDE499E}"/>
          </ac:spMkLst>
        </pc:spChg>
        <pc:spChg chg="add mod">
          <ac:chgData name="Barros, Arthur@Wildlife" userId="13f56b0b-3529-4413-b3c2-bd9e153a9954" providerId="ADAL" clId="{83F66843-D3E2-4209-914A-087BF0EB956C}" dt="2026-08-28T17:20:27.448" v="5161" actId="164"/>
          <ac:spMkLst>
            <pc:docMk/>
            <pc:sldMk cId="660337578" sldId="325"/>
            <ac:spMk id="27" creationId="{4891321A-8C72-1231-F1E0-F801DE179B8D}"/>
          </ac:spMkLst>
        </pc:spChg>
        <pc:spChg chg="add mod">
          <ac:chgData name="Barros, Arthur@Wildlife" userId="13f56b0b-3529-4413-b3c2-bd9e153a9954" providerId="ADAL" clId="{83F66843-D3E2-4209-914A-087BF0EB956C}" dt="2026-08-28T17:20:27.448" v="5161" actId="164"/>
          <ac:spMkLst>
            <pc:docMk/>
            <pc:sldMk cId="660337578" sldId="325"/>
            <ac:spMk id="32" creationId="{0FC31D65-8838-FB62-0A9B-AFD6C31DF020}"/>
          </ac:spMkLst>
        </pc:spChg>
        <pc:spChg chg="add del">
          <ac:chgData name="Barros, Arthur@Wildlife" userId="13f56b0b-3529-4413-b3c2-bd9e153a9954" providerId="ADAL" clId="{83F66843-D3E2-4209-914A-087BF0EB956C}" dt="2026-08-28T16:18:15.223" v="4803" actId="478"/>
          <ac:spMkLst>
            <pc:docMk/>
            <pc:sldMk cId="660337578" sldId="325"/>
            <ac:spMk id="33" creationId="{66209856-FD94-59C9-B31E-B654D4E907BE}"/>
          </ac:spMkLst>
        </pc:spChg>
        <pc:spChg chg="add mod">
          <ac:chgData name="Barros, Arthur@Wildlife" userId="13f56b0b-3529-4413-b3c2-bd9e153a9954" providerId="ADAL" clId="{83F66843-D3E2-4209-914A-087BF0EB956C}" dt="2026-08-28T17:20:27.448" v="5161" actId="164"/>
          <ac:spMkLst>
            <pc:docMk/>
            <pc:sldMk cId="660337578" sldId="325"/>
            <ac:spMk id="34" creationId="{CD44C234-6053-1C03-E3D3-69FB623AF5A5}"/>
          </ac:spMkLst>
        </pc:spChg>
        <pc:spChg chg="del">
          <ac:chgData name="Barros, Arthur@Wildlife" userId="13f56b0b-3529-4413-b3c2-bd9e153a9954" providerId="ADAL" clId="{83F66843-D3E2-4209-914A-087BF0EB956C}" dt="2026-08-28T16:12:57.160" v="4793" actId="478"/>
          <ac:spMkLst>
            <pc:docMk/>
            <pc:sldMk cId="660337578" sldId="325"/>
            <ac:spMk id="38" creationId="{FFEE2508-998C-ACC7-A708-27FFC3C24A3F}"/>
          </ac:spMkLst>
        </pc:spChg>
        <pc:spChg chg="add mod">
          <ac:chgData name="Barros, Arthur@Wildlife" userId="13f56b0b-3529-4413-b3c2-bd9e153a9954" providerId="ADAL" clId="{83F66843-D3E2-4209-914A-087BF0EB956C}" dt="2026-08-28T17:20:27.448" v="5161" actId="164"/>
          <ac:spMkLst>
            <pc:docMk/>
            <pc:sldMk cId="660337578" sldId="325"/>
            <ac:spMk id="42" creationId="{A2C1437E-B742-E9C8-BCA0-BA61F7B2A918}"/>
          </ac:spMkLst>
        </pc:spChg>
        <pc:spChg chg="add mod">
          <ac:chgData name="Barros, Arthur@Wildlife" userId="13f56b0b-3529-4413-b3c2-bd9e153a9954" providerId="ADAL" clId="{83F66843-D3E2-4209-914A-087BF0EB956C}" dt="2026-08-28T17:20:27.448" v="5161" actId="164"/>
          <ac:spMkLst>
            <pc:docMk/>
            <pc:sldMk cId="660337578" sldId="325"/>
            <ac:spMk id="44" creationId="{C0543913-C292-230B-9D28-3CD2F98AF766}"/>
          </ac:spMkLst>
        </pc:spChg>
        <pc:spChg chg="add mod">
          <ac:chgData name="Barros, Arthur@Wildlife" userId="13f56b0b-3529-4413-b3c2-bd9e153a9954" providerId="ADAL" clId="{83F66843-D3E2-4209-914A-087BF0EB956C}" dt="2026-08-28T17:58:09.989" v="5165" actId="403"/>
          <ac:spMkLst>
            <pc:docMk/>
            <pc:sldMk cId="660337578" sldId="325"/>
            <ac:spMk id="1029" creationId="{58D830E4-2F3E-640A-9E33-DFEC92DC4DFC}"/>
          </ac:spMkLst>
        </pc:spChg>
        <pc:spChg chg="add mod">
          <ac:chgData name="Barros, Arthur@Wildlife" userId="13f56b0b-3529-4413-b3c2-bd9e153a9954" providerId="ADAL" clId="{83F66843-D3E2-4209-914A-087BF0EB956C}" dt="2026-08-28T17:15:30.689" v="5013" actId="113"/>
          <ac:spMkLst>
            <pc:docMk/>
            <pc:sldMk cId="660337578" sldId="325"/>
            <ac:spMk id="1052" creationId="{22D5D55E-B9EA-0D0F-7434-0F377074FCD3}"/>
          </ac:spMkLst>
        </pc:spChg>
        <pc:spChg chg="add mod">
          <ac:chgData name="Barros, Arthur@Wildlife" userId="13f56b0b-3529-4413-b3c2-bd9e153a9954" providerId="ADAL" clId="{83F66843-D3E2-4209-914A-087BF0EB956C}" dt="2026-08-28T17:15:35.461" v="5014" actId="113"/>
          <ac:spMkLst>
            <pc:docMk/>
            <pc:sldMk cId="660337578" sldId="325"/>
            <ac:spMk id="1054" creationId="{B1F5BFC9-F6F6-57B6-8CB8-67BD16A06DCB}"/>
          </ac:spMkLst>
        </pc:spChg>
        <pc:spChg chg="add mod">
          <ac:chgData name="Barros, Arthur@Wildlife" userId="13f56b0b-3529-4413-b3c2-bd9e153a9954" providerId="ADAL" clId="{83F66843-D3E2-4209-914A-087BF0EB956C}" dt="2026-08-28T17:20:27.448" v="5161" actId="164"/>
          <ac:spMkLst>
            <pc:docMk/>
            <pc:sldMk cId="660337578" sldId="325"/>
            <ac:spMk id="1057" creationId="{64959EFF-9617-B902-FA30-0DFBE2781486}"/>
          </ac:spMkLst>
        </pc:spChg>
        <pc:spChg chg="add mod">
          <ac:chgData name="Barros, Arthur@Wildlife" userId="13f56b0b-3529-4413-b3c2-bd9e153a9954" providerId="ADAL" clId="{83F66843-D3E2-4209-914A-087BF0EB956C}" dt="2026-08-28T17:20:27.448" v="5161" actId="164"/>
          <ac:spMkLst>
            <pc:docMk/>
            <pc:sldMk cId="660337578" sldId="325"/>
            <ac:spMk id="1066" creationId="{8642FE33-6F20-E84B-B47C-99CA1A0ECB45}"/>
          </ac:spMkLst>
        </pc:spChg>
        <pc:spChg chg="add mod">
          <ac:chgData name="Barros, Arthur@Wildlife" userId="13f56b0b-3529-4413-b3c2-bd9e153a9954" providerId="ADAL" clId="{83F66843-D3E2-4209-914A-087BF0EB956C}" dt="2026-08-28T17:20:27.448" v="5161" actId="164"/>
          <ac:spMkLst>
            <pc:docMk/>
            <pc:sldMk cId="660337578" sldId="325"/>
            <ac:spMk id="1073" creationId="{7B4D53ED-E185-3656-4675-AD34A73B2100}"/>
          </ac:spMkLst>
        </pc:spChg>
        <pc:spChg chg="add mod">
          <ac:chgData name="Barros, Arthur@Wildlife" userId="13f56b0b-3529-4413-b3c2-bd9e153a9954" providerId="ADAL" clId="{83F66843-D3E2-4209-914A-087BF0EB956C}" dt="2026-08-28T17:20:27.448" v="5161" actId="164"/>
          <ac:spMkLst>
            <pc:docMk/>
            <pc:sldMk cId="660337578" sldId="325"/>
            <ac:spMk id="1089" creationId="{6D029CA4-771B-3193-EFC2-628485414E41}"/>
          </ac:spMkLst>
        </pc:spChg>
        <pc:spChg chg="add del">
          <ac:chgData name="Barros, Arthur@Wildlife" userId="13f56b0b-3529-4413-b3c2-bd9e153a9954" providerId="ADAL" clId="{83F66843-D3E2-4209-914A-087BF0EB956C}" dt="2026-08-28T17:18:52.302" v="5130" actId="22"/>
          <ac:spMkLst>
            <pc:docMk/>
            <pc:sldMk cId="660337578" sldId="325"/>
            <ac:spMk id="1091" creationId="{B7362D7C-50C9-66D8-89A5-E7B461AEB610}"/>
          </ac:spMkLst>
        </pc:spChg>
        <pc:spChg chg="add mod">
          <ac:chgData name="Barros, Arthur@Wildlife" userId="13f56b0b-3529-4413-b3c2-bd9e153a9954" providerId="ADAL" clId="{83F66843-D3E2-4209-914A-087BF0EB956C}" dt="2026-08-28T17:19:57.017" v="5160" actId="1076"/>
          <ac:spMkLst>
            <pc:docMk/>
            <pc:sldMk cId="660337578" sldId="325"/>
            <ac:spMk id="1100" creationId="{DB70BCD3-AB6C-64D0-4A1B-A23F983B79D0}"/>
          </ac:spMkLst>
        </pc:spChg>
        <pc:spChg chg="add mod ord">
          <ac:chgData name="Barros, Arthur@Wildlife" userId="13f56b0b-3529-4413-b3c2-bd9e153a9954" providerId="ADAL" clId="{83F66843-D3E2-4209-914A-087BF0EB956C}" dt="2026-08-28T19:10:02.410" v="5170" actId="164"/>
          <ac:spMkLst>
            <pc:docMk/>
            <pc:sldMk cId="660337578" sldId="325"/>
            <ac:spMk id="1102" creationId="{91F7F9B5-9052-22CB-5CF6-91C751B826B2}"/>
          </ac:spMkLst>
        </pc:spChg>
        <pc:grpChg chg="del">
          <ac:chgData name="Barros, Arthur@Wildlife" userId="13f56b0b-3529-4413-b3c2-bd9e153a9954" providerId="ADAL" clId="{83F66843-D3E2-4209-914A-087BF0EB956C}" dt="2026-08-28T16:12:57.160" v="4793" actId="478"/>
          <ac:grpSpMkLst>
            <pc:docMk/>
            <pc:sldMk cId="660337578" sldId="325"/>
            <ac:grpSpMk id="14" creationId="{B03E37D7-51E3-9224-F03D-712928E076F7}"/>
          </ac:grpSpMkLst>
        </pc:grpChg>
        <pc:grpChg chg="add mod">
          <ac:chgData name="Barros, Arthur@Wildlife" userId="13f56b0b-3529-4413-b3c2-bd9e153a9954" providerId="ADAL" clId="{83F66843-D3E2-4209-914A-087BF0EB956C}" dt="2026-08-28T16:13:21.712" v="4798" actId="1076"/>
          <ac:grpSpMkLst>
            <pc:docMk/>
            <pc:sldMk cId="660337578" sldId="325"/>
            <ac:grpSpMk id="23" creationId="{4E1D1434-B146-82B1-E5D7-6B0E533377F7}"/>
          </ac:grpSpMkLst>
        </pc:grpChg>
        <pc:grpChg chg="mod">
          <ac:chgData name="Barros, Arthur@Wildlife" userId="13f56b0b-3529-4413-b3c2-bd9e153a9954" providerId="ADAL" clId="{83F66843-D3E2-4209-914A-087BF0EB956C}" dt="2026-08-28T19:10:02.410" v="5170" actId="164"/>
          <ac:grpSpMkLst>
            <pc:docMk/>
            <pc:sldMk cId="660337578" sldId="325"/>
            <ac:grpSpMk id="1101" creationId="{AD56D0E9-87C1-1C86-ACB1-E9001847C5C9}"/>
          </ac:grpSpMkLst>
        </pc:grpChg>
        <pc:grpChg chg="add mod">
          <ac:chgData name="Barros, Arthur@Wildlife" userId="13f56b0b-3529-4413-b3c2-bd9e153a9954" providerId="ADAL" clId="{83F66843-D3E2-4209-914A-087BF0EB956C}" dt="2026-08-28T19:10:02.410" v="5170" actId="164"/>
          <ac:grpSpMkLst>
            <pc:docMk/>
            <pc:sldMk cId="660337578" sldId="325"/>
            <ac:grpSpMk id="1104" creationId="{585AF89C-9B96-7392-8E68-F161668336CE}"/>
          </ac:grpSpMkLst>
        </pc:grpChg>
        <pc:picChg chg="add mod">
          <ac:chgData name="Barros, Arthur@Wildlife" userId="13f56b0b-3529-4413-b3c2-bd9e153a9954" providerId="ADAL" clId="{83F66843-D3E2-4209-914A-087BF0EB956C}" dt="2026-08-28T16:13:19.287" v="4797" actId="164"/>
          <ac:picMkLst>
            <pc:docMk/>
            <pc:sldMk cId="660337578" sldId="325"/>
            <ac:picMk id="22" creationId="{D1540CB9-C5ED-6331-1C4A-DC8CDC445084}"/>
          </ac:picMkLst>
        </pc:picChg>
        <pc:picChg chg="del">
          <ac:chgData name="Barros, Arthur@Wildlife" userId="13f56b0b-3529-4413-b3c2-bd9e153a9954" providerId="ADAL" clId="{83F66843-D3E2-4209-914A-087BF0EB956C}" dt="2026-08-28T16:12:57.160" v="4793" actId="478"/>
          <ac:picMkLst>
            <pc:docMk/>
            <pc:sldMk cId="660337578" sldId="325"/>
            <ac:picMk id="40" creationId="{D3A9C4BD-7FC2-8A74-BE88-CFBC137B722B}"/>
          </ac:picMkLst>
        </pc:picChg>
        <pc:cxnChg chg="del">
          <ac:chgData name="Barros, Arthur@Wildlife" userId="13f56b0b-3529-4413-b3c2-bd9e153a9954" providerId="ADAL" clId="{83F66843-D3E2-4209-914A-087BF0EB956C}" dt="2026-08-28T16:12:57.160" v="4793" actId="478"/>
          <ac:cxnSpMkLst>
            <pc:docMk/>
            <pc:sldMk cId="660337578" sldId="325"/>
            <ac:cxnSpMk id="7" creationId="{1355F0EE-AEE5-131A-B98F-068B40F8F430}"/>
          </ac:cxnSpMkLst>
        </pc:cxnChg>
        <pc:cxnChg chg="mod">
          <ac:chgData name="Barros, Arthur@Wildlife" userId="13f56b0b-3529-4413-b3c2-bd9e153a9954" providerId="ADAL" clId="{83F66843-D3E2-4209-914A-087BF0EB956C}" dt="2026-08-28T16:12:57.160" v="4793" actId="478"/>
          <ac:cxnSpMkLst>
            <pc:docMk/>
            <pc:sldMk cId="660337578" sldId="325"/>
            <ac:cxnSpMk id="18" creationId="{6808F925-DE6A-C4E8-D823-DA5D99D81E98}"/>
          </ac:cxnSpMkLst>
        </pc:cxnChg>
        <pc:cxnChg chg="del mod">
          <ac:chgData name="Barros, Arthur@Wildlife" userId="13f56b0b-3529-4413-b3c2-bd9e153a9954" providerId="ADAL" clId="{83F66843-D3E2-4209-914A-087BF0EB956C}" dt="2026-08-28T16:12:57.160" v="4793" actId="478"/>
          <ac:cxnSpMkLst>
            <pc:docMk/>
            <pc:sldMk cId="660337578" sldId="325"/>
            <ac:cxnSpMk id="29" creationId="{45DC03F7-54A5-5E81-5E92-F42B447B8830}"/>
          </ac:cxnSpMkLst>
        </pc:cxnChg>
        <pc:cxnChg chg="add mod">
          <ac:chgData name="Barros, Arthur@Wildlife" userId="13f56b0b-3529-4413-b3c2-bd9e153a9954" providerId="ADAL" clId="{83F66843-D3E2-4209-914A-087BF0EB956C}" dt="2026-08-28T16:20:12.786" v="4814" actId="14100"/>
          <ac:cxnSpMkLst>
            <pc:docMk/>
            <pc:sldMk cId="660337578" sldId="325"/>
            <ac:cxnSpMk id="36" creationId="{E776BE59-30B6-4DF1-CE50-7DE455E7F238}"/>
          </ac:cxnSpMkLst>
        </pc:cxnChg>
        <pc:cxnChg chg="add del mod">
          <ac:chgData name="Barros, Arthur@Wildlife" userId="13f56b0b-3529-4413-b3c2-bd9e153a9954" providerId="ADAL" clId="{83F66843-D3E2-4209-914A-087BF0EB956C}" dt="2026-08-28T16:20:48.219" v="4826" actId="478"/>
          <ac:cxnSpMkLst>
            <pc:docMk/>
            <pc:sldMk cId="660337578" sldId="325"/>
            <ac:cxnSpMk id="46" creationId="{D3CBD38D-D878-0D56-A9A3-7150CFD7DCF4}"/>
          </ac:cxnSpMkLst>
        </pc:cxnChg>
        <pc:cxnChg chg="add mod">
          <ac:chgData name="Barros, Arthur@Wildlife" userId="13f56b0b-3529-4413-b3c2-bd9e153a9954" providerId="ADAL" clId="{83F66843-D3E2-4209-914A-087BF0EB956C}" dt="2026-08-28T16:21:41.736" v="4840" actId="14100"/>
          <ac:cxnSpMkLst>
            <pc:docMk/>
            <pc:sldMk cId="660337578" sldId="325"/>
            <ac:cxnSpMk id="53" creationId="{FF8198F3-5DAC-D97E-F35F-F05A085BBEC8}"/>
          </ac:cxnSpMkLst>
        </pc:cxnChg>
        <pc:cxnChg chg="add mod">
          <ac:chgData name="Barros, Arthur@Wildlife" userId="13f56b0b-3529-4413-b3c2-bd9e153a9954" providerId="ADAL" clId="{83F66843-D3E2-4209-914A-087BF0EB956C}" dt="2026-08-28T16:21:23.334" v="4836" actId="1582"/>
          <ac:cxnSpMkLst>
            <pc:docMk/>
            <pc:sldMk cId="660337578" sldId="325"/>
            <ac:cxnSpMk id="56" creationId="{F8A8E3F4-3B78-D977-03FE-2EAD200A6DC2}"/>
          </ac:cxnSpMkLst>
        </pc:cxnChg>
        <pc:cxnChg chg="add mod">
          <ac:chgData name="Barros, Arthur@Wildlife" userId="13f56b0b-3529-4413-b3c2-bd9e153a9954" providerId="ADAL" clId="{83F66843-D3E2-4209-914A-087BF0EB956C}" dt="2026-08-28T16:21:44.936" v="4841" actId="1076"/>
          <ac:cxnSpMkLst>
            <pc:docMk/>
            <pc:sldMk cId="660337578" sldId="325"/>
            <ac:cxnSpMk id="60" creationId="{43C79789-6379-F4EA-AE29-8E5C3B142F42}"/>
          </ac:cxnSpMkLst>
        </pc:cxnChg>
        <pc:cxnChg chg="add mod">
          <ac:chgData name="Barros, Arthur@Wildlife" userId="13f56b0b-3529-4413-b3c2-bd9e153a9954" providerId="ADAL" clId="{83F66843-D3E2-4209-914A-087BF0EB956C}" dt="2026-08-28T16:21:55.800" v="4846" actId="1076"/>
          <ac:cxnSpMkLst>
            <pc:docMk/>
            <pc:sldMk cId="660337578" sldId="325"/>
            <ac:cxnSpMk id="1024" creationId="{EEF83E2E-6748-41D2-DD5E-2A1F2CA843EE}"/>
          </ac:cxnSpMkLst>
        </pc:cxnChg>
        <pc:cxnChg chg="add mod">
          <ac:chgData name="Barros, Arthur@Wildlife" userId="13f56b0b-3529-4413-b3c2-bd9e153a9954" providerId="ADAL" clId="{83F66843-D3E2-4209-914A-087BF0EB956C}" dt="2026-08-28T16:24:23.335" v="4886" actId="1076"/>
          <ac:cxnSpMkLst>
            <pc:docMk/>
            <pc:sldMk cId="660337578" sldId="325"/>
            <ac:cxnSpMk id="1030" creationId="{20D19F54-445A-D650-09A7-994884301ACD}"/>
          </ac:cxnSpMkLst>
        </pc:cxnChg>
        <pc:cxnChg chg="add mod">
          <ac:chgData name="Barros, Arthur@Wildlife" userId="13f56b0b-3529-4413-b3c2-bd9e153a9954" providerId="ADAL" clId="{83F66843-D3E2-4209-914A-087BF0EB956C}" dt="2026-08-28T16:22:55.764" v="4870" actId="1037"/>
          <ac:cxnSpMkLst>
            <pc:docMk/>
            <pc:sldMk cId="660337578" sldId="325"/>
            <ac:cxnSpMk id="1033" creationId="{9D30B6AD-8C27-8DA5-A998-EE5FA9B9EBD0}"/>
          </ac:cxnSpMkLst>
        </pc:cxnChg>
        <pc:cxnChg chg="add del mod">
          <ac:chgData name="Barros, Arthur@Wildlife" userId="13f56b0b-3529-4413-b3c2-bd9e153a9954" providerId="ADAL" clId="{83F66843-D3E2-4209-914A-087BF0EB956C}" dt="2026-08-28T16:24:11.860" v="4882" actId="478"/>
          <ac:cxnSpMkLst>
            <pc:docMk/>
            <pc:sldMk cId="660337578" sldId="325"/>
            <ac:cxnSpMk id="1036" creationId="{F8548086-56F1-B155-9746-E5939349A590}"/>
          </ac:cxnSpMkLst>
        </pc:cxnChg>
        <pc:cxnChg chg="add mod">
          <ac:chgData name="Barros, Arthur@Wildlife" userId="13f56b0b-3529-4413-b3c2-bd9e153a9954" providerId="ADAL" clId="{83F66843-D3E2-4209-914A-087BF0EB956C}" dt="2026-08-28T17:58:09.989" v="5165" actId="403"/>
          <ac:cxnSpMkLst>
            <pc:docMk/>
            <pc:sldMk cId="660337578" sldId="325"/>
            <ac:cxnSpMk id="1040" creationId="{5C4DFB7E-FE22-E75A-D391-AAF4223096D9}"/>
          </ac:cxnSpMkLst>
        </pc:cxnChg>
        <pc:cxnChg chg="add mod">
          <ac:chgData name="Barros, Arthur@Wildlife" userId="13f56b0b-3529-4413-b3c2-bd9e153a9954" providerId="ADAL" clId="{83F66843-D3E2-4209-914A-087BF0EB956C}" dt="2026-08-28T16:24:01.922" v="4879" actId="14100"/>
          <ac:cxnSpMkLst>
            <pc:docMk/>
            <pc:sldMk cId="660337578" sldId="325"/>
            <ac:cxnSpMk id="1043" creationId="{D1D797B8-8B65-6804-962D-9FDAC0275E9C}"/>
          </ac:cxnSpMkLst>
        </pc:cxnChg>
        <pc:cxnChg chg="add mod">
          <ac:chgData name="Barros, Arthur@Wildlife" userId="13f56b0b-3529-4413-b3c2-bd9e153a9954" providerId="ADAL" clId="{83F66843-D3E2-4209-914A-087BF0EB956C}" dt="2026-08-28T17:16:47.109" v="5068" actId="14100"/>
          <ac:cxnSpMkLst>
            <pc:docMk/>
            <pc:sldMk cId="660337578" sldId="325"/>
            <ac:cxnSpMk id="1058" creationId="{2A036B99-8F78-FD13-AA00-6F0BACDB6DF9}"/>
          </ac:cxnSpMkLst>
        </pc:cxnChg>
        <pc:cxnChg chg="add mod">
          <ac:chgData name="Barros, Arthur@Wildlife" userId="13f56b0b-3529-4413-b3c2-bd9e153a9954" providerId="ADAL" clId="{83F66843-D3E2-4209-914A-087BF0EB956C}" dt="2026-08-28T17:19:36.064" v="5153" actId="14100"/>
          <ac:cxnSpMkLst>
            <pc:docMk/>
            <pc:sldMk cId="660337578" sldId="325"/>
            <ac:cxnSpMk id="1068" creationId="{CA582F1B-9236-D50B-9C02-43457DE6CE20}"/>
          </ac:cxnSpMkLst>
        </pc:cxnChg>
        <pc:cxnChg chg="add del mod">
          <ac:chgData name="Barros, Arthur@Wildlife" userId="13f56b0b-3529-4413-b3c2-bd9e153a9954" providerId="ADAL" clId="{83F66843-D3E2-4209-914A-087BF0EB956C}" dt="2026-08-28T17:17:52.442" v="5083" actId="478"/>
          <ac:cxnSpMkLst>
            <pc:docMk/>
            <pc:sldMk cId="660337578" sldId="325"/>
            <ac:cxnSpMk id="1074" creationId="{6D1D85E3-CCE6-0C8E-1887-ED0DF197BA17}"/>
          </ac:cxnSpMkLst>
        </pc:cxnChg>
        <pc:cxnChg chg="add del mod">
          <ac:chgData name="Barros, Arthur@Wildlife" userId="13f56b0b-3529-4413-b3c2-bd9e153a9954" providerId="ADAL" clId="{83F66843-D3E2-4209-914A-087BF0EB956C}" dt="2026-08-28T17:19:45.962" v="5157" actId="478"/>
          <ac:cxnSpMkLst>
            <pc:docMk/>
            <pc:sldMk cId="660337578" sldId="325"/>
            <ac:cxnSpMk id="1075" creationId="{31DDDF2B-E9BF-665D-B754-E8E8DCA51C4D}"/>
          </ac:cxnSpMkLst>
        </pc:cxnChg>
        <pc:cxnChg chg="add mod">
          <ac:chgData name="Barros, Arthur@Wildlife" userId="13f56b0b-3529-4413-b3c2-bd9e153a9954" providerId="ADAL" clId="{83F66843-D3E2-4209-914A-087BF0EB956C}" dt="2026-08-28T17:19:48.761" v="5158" actId="1076"/>
          <ac:cxnSpMkLst>
            <pc:docMk/>
            <pc:sldMk cId="660337578" sldId="325"/>
            <ac:cxnSpMk id="1082" creationId="{479D21A8-C3BD-DFC4-2DD1-1F5B82FDAA03}"/>
          </ac:cxnSpMkLst>
        </pc:cxnChg>
        <pc:cxnChg chg="mod">
          <ac:chgData name="Barros, Arthur@Wildlife" userId="13f56b0b-3529-4413-b3c2-bd9e153a9954" providerId="ADAL" clId="{83F66843-D3E2-4209-914A-087BF0EB956C}" dt="2026-08-28T16:12:57.160" v="4793" actId="478"/>
          <ac:cxnSpMkLst>
            <pc:docMk/>
            <pc:sldMk cId="660337578" sldId="325"/>
            <ac:cxnSpMk id="1086" creationId="{74BA3357-1AAD-1183-31DA-5D6DE3A6901A}"/>
          </ac:cxnSpMkLst>
        </pc:cxnChg>
        <pc:cxnChg chg="add mod">
          <ac:chgData name="Barros, Arthur@Wildlife" userId="13f56b0b-3529-4413-b3c2-bd9e153a9954" providerId="ADAL" clId="{83F66843-D3E2-4209-914A-087BF0EB956C}" dt="2026-08-28T17:19:39.463" v="5155" actId="14100"/>
          <ac:cxnSpMkLst>
            <pc:docMk/>
            <pc:sldMk cId="660337578" sldId="325"/>
            <ac:cxnSpMk id="1092" creationId="{B17AAB52-B54C-1100-148E-F63389E49DB1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45F45FA-10D9-499F-BBF2-98AD215A9B57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CCA60C-E350-443D-B763-AC8BDD5285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794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D60BE1-F9BF-4FF6-9ED4-6E58D1340EF8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64303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997B7-F9AD-45C8-43A5-57B3C6DC6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24E82A-498B-892E-7953-B9D6A89158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6F53E2-2278-EF3F-5305-69CA47104E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15BE14-371D-A651-159D-41572ECD4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D60BE1-F9BF-4FF6-9ED4-6E58D1340EF8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11383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D8A66F-440D-5476-4621-CC9D60219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779143-B09A-3BC9-BE7E-0D3EB1F62F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BB5CE5-33F4-BB02-97A2-B025047FAE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B596D0-5848-7381-45F8-21A7ABC710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D60BE1-F9BF-4FF6-9ED4-6E58D1340EF8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81927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7EC27-3555-F9C9-D888-313291C72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A49664-6889-CB39-10FC-FC6C77C986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691B11-C211-9838-538E-A8440E7E0D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154BC6-5984-BFB1-93DF-AA3689DD96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D60BE1-F9BF-4FF6-9ED4-6E58D1340EF8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48464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9DC0B-6C32-2A40-2167-2CFCCDDEA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ADB1AA-93EA-72D1-F127-E75D44413D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53DF63-5E2D-3240-74E3-7C4018B2AB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EE94D7-94F5-C725-F871-038AE6BC03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D60BE1-F9BF-4FF6-9ED4-6E58D1340EF8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36946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1C081-189B-2C80-F156-226E02C4F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B1B11E-AEDE-9747-70F9-2FDB61CCAD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648D60-1DFF-ECBC-7D7E-00CAE5EA13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77F644-66D6-3F0C-E62A-17DCF2B5F4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D60BE1-F9BF-4FF6-9ED4-6E58D1340EF8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715384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5E7015-20A1-46AC-E32A-38B07F2912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8DC575-22C6-D05A-6CD1-8D370757FD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1F6FD5-668C-3CDA-87D1-E630CDC669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B13919-BF38-1D30-D2F2-1515A9CB67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D60BE1-F9BF-4FF6-9ED4-6E58D1340EF8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279935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15790-FC52-DF23-0900-9A89C010A9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2726B5-F294-E13D-21B3-ED926932DE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97C547-EE8F-6E29-FD53-55150BECFF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75C113-12F8-BDC6-03DB-82280245B0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D60BE1-F9BF-4FF6-9ED4-6E58D1340EF8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7858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43FCB-A2CE-04BA-98A5-BFEDAD5FE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BBBAA5-359F-96AC-3FFF-F1FF97E107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0C28B0-B722-3661-0F2F-277E18B6E4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7ACA06-C265-CA8D-0704-CE6F7C10A2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D60BE1-F9BF-4FF6-9ED4-6E58D1340EF8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344404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8B9B05-2209-3EE9-1699-81540005E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4F8FB0-97F9-350F-368B-358B5994BB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54355D-056C-1782-83B8-1B099AB845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04DB4A-A3B4-B53E-9DC3-6888C99E9D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D60BE1-F9BF-4FF6-9ED4-6E58D1340EF8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078554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7F18B0-D9FA-93DC-834B-2172561A3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F0B4D2-044D-09AD-EF46-6284AE295E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047DD8-A015-6258-B696-9B8F51D163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C9F955-B718-87A2-C1C6-A9970951DA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D60BE1-F9BF-4FF6-9ED4-6E58D1340EF8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431655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56E67-07C7-1D7D-6B1B-918B9EADA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7FD196-6917-20F1-82EA-49A5B114B3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418EC5-53EB-B878-FFC1-BCC0C9BB85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3A1451-6611-51C7-13FD-671C93C424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D60BE1-F9BF-4FF6-9ED4-6E58D1340EF8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573653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9773BA-EA2B-1C3F-79E7-5A437E7F60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830FA0-4ABA-81A6-2AE7-783D93B714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9FB548-F599-F5B6-F04A-D1A7B37057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8A91FA-2DD9-D012-7439-E8A41B8C3C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D60BE1-F9BF-4FF6-9ED4-6E58D1340EF8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976305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43853-9DC2-B2C5-D360-EA653F238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A04180-84EE-7BDF-799F-35A82AB11A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DBE1F4-F76A-A10F-6513-ECA86D51E8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96B010-3D76-918A-9E22-54BD484D93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D60BE1-F9BF-4FF6-9ED4-6E58D1340EF8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156344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81BFCD-C80A-44FC-91E9-A4DE06F1D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258A0A-28E8-EC08-1C92-FF63F2E19E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17FE60-C0DB-0B08-71F7-4EC11CA0A3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97A4ED-C63F-FA92-FBD7-6E0657A5F1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D60BE1-F9BF-4FF6-9ED4-6E58D1340EF8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243023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C706C2-BA8C-3DF9-5174-D3DEBF41B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F23512-1436-4E65-D1A3-BDBC8A414E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F57BA2-0343-51D4-ECE4-921EBB3AF9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0F9C34-B121-C038-C033-43BAFA66FB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D60BE1-F9BF-4FF6-9ED4-6E58D1340EF8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153665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22703-8458-A7B0-7F21-06EBE165C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12E0A6-C68B-82D9-AAF5-80894B6071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4EB5C5-E062-93BE-04FB-5EFA5C82CC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0A23E3-D2CB-1B19-46F8-A93C39B6D1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D60BE1-F9BF-4FF6-9ED4-6E58D1340EF8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978125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3488F-3150-330C-71BC-1931663FA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331FA1-EA34-F754-76A4-DD8CDFEACA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91C6C4-7631-0E28-1D39-4085747A83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E18FF0-531D-A3E4-DA1B-1695A229A6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D60BE1-F9BF-4FF6-9ED4-6E58D1340EF8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19051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78F00C-0C41-5763-8471-0E5FB8039B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A8F506-C8E5-5943-84EF-1B8DFC2158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82C1BE-D86C-D6AE-E353-70BDDBBD1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C7315-E1F3-4F0B-97E9-4A2C4A06FEFE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61CB00-13FA-E6B6-41A7-0A49F4E3F9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592E19-045C-77F2-C0E9-499676B4B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09AD0-87C3-4155-B340-3CFEFE2ECB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93514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01A24-C059-85B5-3A46-9EA4980869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4660D6-7A0D-A691-6BC1-288128D63E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5B2A50-47A9-14F3-4C0B-BF7D3D4799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C7315-E1F3-4F0B-97E9-4A2C4A06FEFE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3C3D64-0929-7237-E010-6C044416E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384CE0-62E5-6707-BCF5-D809E435CE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09AD0-87C3-4155-B340-3CFEFE2ECB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6573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583B57-E19C-37CD-BF72-365632C9E1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09C18D-E0A3-104B-3FF4-7B2ADFC9C8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8C3A0B-FCE9-2799-C337-4DD4CF7CD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C7315-E1F3-4F0B-97E9-4A2C4A06FEFE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D28C5E-A426-92B0-ED4E-5647B6278B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C80762-D2F5-A6DC-D107-BA9D73D85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09AD0-87C3-4155-B340-3CFEFE2ECB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40367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9D8BC-CC7D-C2FD-CD53-097947504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4E5B10-F09C-0ED7-81C9-E497EB833D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6BE5A1-EAC5-F8E5-FBBB-5C2D81D913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519BCF-0E37-0274-50DE-45A9D36DC3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C7315-E1F3-4F0B-97E9-4A2C4A06FEFE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253AA0-46E1-4D78-029B-33C8ADB47C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B8072F-3B76-F826-0E67-69D3794B5A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09AD0-87C3-4155-B340-3CFEFE2ECB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8485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DEA99-326A-4FDE-0BFE-EB80A4649E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3D1D0E-0C22-8EEB-9E05-03039EFEE5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AD8804-1D14-27D9-CBE7-7B22B82DEB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006412-83A6-8A4A-3C2A-7A51F30194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51E93E-3FC7-9F37-E614-B72266DC18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6516BFD-E12E-9443-6E6A-01D1B727C1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C7315-E1F3-4F0B-97E9-4A2C4A06FEFE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D8536EE-09CE-ECE1-16C7-9ABBF2320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0C9343D-E7F8-640E-44ED-22BF42D5C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09AD0-87C3-4155-B340-3CFEFE2ECB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6733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DE5AFC-9A0D-C86F-03AF-B7CBA41F7E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5622A09-B9C9-ABF5-A73E-7FB0982AD3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C7315-E1F3-4F0B-97E9-4A2C4A06FEFE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95B8B2-6DA0-972F-C5A3-897CB23963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798A82-F5A9-9FEA-82C3-3BB8A3666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09AD0-87C3-4155-B340-3CFEFE2ECB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8576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CE433EA-13A8-368A-872E-BCFD0BC776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C7315-E1F3-4F0B-97E9-4A2C4A06FEFE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82CF330-8C52-A7D9-FEDE-4D02B41B4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92581E-08CC-0550-3CA8-ED1E7F96E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09AD0-87C3-4155-B340-3CFEFE2ECB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29533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55B8BA-7D4B-5CCD-4FE9-EB0B66A91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8C5A46-C13A-6FB8-961E-AC0A03B0DA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98AC76A-C33D-C16F-E7A3-7FD0A3E823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4159E9-1304-E6C3-6BF1-197559533A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C7315-E1F3-4F0B-97E9-4A2C4A06FEFE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558814-6183-B7F1-8A86-426F8FA960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904C5A-2ACB-8BFA-3FD9-002DE05E1D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09AD0-87C3-4155-B340-3CFEFE2ECB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17092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6056C-2D7D-3545-D765-8510A6D37D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4402A09-E522-D4D4-8A13-201E9FCE835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446D37-42C3-1402-3A1B-65CDBE4692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8942E0-7B33-0C79-C338-EC606AE59E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C7315-E1F3-4F0B-97E9-4A2C4A06FEFE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FDCD22-D62A-C9B2-3936-D92F5BB1AD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797940-5BAA-D1DE-D97B-F3C7FD7EA6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09AD0-87C3-4155-B340-3CFEFE2ECB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16640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12F4DC-E6A7-AA4D-6323-2ED10FF726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DA0A8E-577D-6164-7567-595B3FC4EF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AFCF12-C14D-1215-E7C5-17021378D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C7315-E1F3-4F0B-97E9-4A2C4A06FEFE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5584B0-C27D-DB19-8373-5388C5F9D1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392DCE-1215-AE86-E9AD-D1E365E72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09AD0-87C3-4155-B340-3CFEFE2ECB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26126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0AA712-624D-359F-41A9-E562A3BB0DE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AA1E16-E0C4-2D39-FFF1-538B5B0972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D201A3-982E-9D64-7A11-CBCB75D096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C7315-E1F3-4F0B-97E9-4A2C4A06FEFE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554F61-BEE5-A5D7-05D3-485F30EBFB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9D8DE7-1973-CDF8-112B-C7B48E8E3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09AD0-87C3-4155-B340-3CFEFE2ECB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011297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BD3AD18-64E1-6059-61D0-0BBC7B92817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3144838"/>
          </a:xfrm>
        </p:spPr>
        <p:txBody>
          <a:bodyPr/>
          <a:lstStyle>
            <a:lvl1pPr marL="0" indent="0" algn="ctr">
              <a:lnSpc>
                <a:spcPct val="300000"/>
              </a:lnSpc>
              <a:buNone/>
              <a:tabLst>
                <a:tab pos="2230438" algn="l"/>
              </a:tabLst>
              <a:defRPr/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A8CD82-FE2C-848E-7E3C-C3106B0319A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81100" y="3889003"/>
            <a:ext cx="9829800" cy="909637"/>
          </a:xfrm>
        </p:spPr>
        <p:txBody>
          <a:bodyPr anchor="b">
            <a:normAutofit/>
          </a:bodyPr>
          <a:lstStyle>
            <a:lvl1pPr algn="ctr">
              <a:defRPr sz="4800" b="1" cap="all" baseline="0"/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B0454C-6DB7-B79C-A5BF-F3073BA447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816507"/>
            <a:ext cx="9144000" cy="365125"/>
          </a:xfrm>
        </p:spPr>
        <p:txBody>
          <a:bodyPr/>
          <a:lstStyle>
            <a:lvl1pPr marL="0" indent="0" algn="ctr">
              <a:buNone/>
              <a:defRPr sz="2400" i="1">
                <a:latin typeface="Century Gothic" panose="020B0502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E93D7AE0-7DBD-A848-246A-F08E23C88C9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65625" y="5513859"/>
            <a:ext cx="3460750" cy="289734"/>
          </a:xfrm>
        </p:spPr>
        <p:txBody>
          <a:bodyPr>
            <a:normAutofit/>
          </a:bodyPr>
          <a:lstStyle>
            <a:lvl1pPr marL="0" indent="0" algn="ctr">
              <a:buNone/>
              <a:defRPr sz="1800" b="1" cap="all" baseline="0">
                <a:solidFill>
                  <a:schemeClr val="tx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US" dirty="0"/>
              <a:t>PRESENTED BY: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458A1B98-64AE-7F0D-0D2A-3C7A5C0BBD8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415382" y="5821460"/>
            <a:ext cx="7361237" cy="289735"/>
          </a:xfrm>
        </p:spPr>
        <p:txBody>
          <a:bodyPr>
            <a:normAutofit/>
          </a:bodyPr>
          <a:lstStyle>
            <a:lvl1pPr marL="0" indent="0" algn="ctr">
              <a:buNone/>
              <a:defRPr sz="1400">
                <a:solidFill>
                  <a:schemeClr val="tx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US" dirty="0"/>
              <a:t>First, Last Name – California Department of Fish and Wildlife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242A69D-4275-F414-2C61-02683FA562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1E71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29234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9759BC-34CD-F546-199B-7C111FEF727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0998" y="437908"/>
            <a:ext cx="11421291" cy="760412"/>
          </a:xfrm>
        </p:spPr>
        <p:txBody>
          <a:bodyPr/>
          <a:lstStyle/>
          <a:p>
            <a:r>
              <a:rPr lang="en-US" dirty="0"/>
              <a:t>Click to edit title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765F90-C306-58CE-BEA8-25FB6AEBDE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0998" y="1631599"/>
            <a:ext cx="3643540" cy="4769198"/>
          </a:xfrm>
        </p:spPr>
        <p:txBody>
          <a:bodyPr>
            <a:normAutofit/>
          </a:bodyPr>
          <a:lstStyle>
            <a:lvl1pPr>
              <a:defRPr sz="2400">
                <a:solidFill>
                  <a:srgbClr val="1E718F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18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4C7A9B63-5A41-C3DC-F351-2409C184475E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281487" y="1631599"/>
            <a:ext cx="7910513" cy="4746975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Insert Picture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4CE80EE-C114-B206-6249-128EB26A54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1E71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2631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871D540-ED0A-CA6E-FA3C-01B2DC0347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990F96-F2EA-3545-C4F9-7124CE5322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83DA4E-7BA5-3423-2AD9-B13BB6243D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4C7315-E1F3-4F0B-97E9-4A2C4A06FEFE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00170C-BE24-8F1D-A6E6-2F56D646FA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861C19-7DCE-E91C-CA2C-377D5DC956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A09AD0-87C3-4155-B340-3CFEFE2ECB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0892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arthurbarros-cdfw.shinyapps.io/RST_app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github.com/arthurbarros-CDFW/RST_app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arthurbarros-cdfw.shinyapps.io/RST_app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rthurbarros-CDFW/RST_app/tree/main/data/test_data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deltacouncil.ca.gov/pdf/science-program/review-documents/spring-run-juvenile-production-estimate/2026-02-03-chapter-5-btspasx-mainstem.pdf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svg"/><Relationship Id="rId3" Type="http://schemas.openxmlformats.org/officeDocument/2006/relationships/image" Target="../media/image18.svg"/><Relationship Id="rId7" Type="http://schemas.openxmlformats.org/officeDocument/2006/relationships/image" Target="../media/image22.svg"/><Relationship Id="rId2" Type="http://schemas.openxmlformats.org/officeDocument/2006/relationships/image" Target="../media/image17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svg"/><Relationship Id="rId5" Type="http://schemas.openxmlformats.org/officeDocument/2006/relationships/image" Target="../media/image20.svg"/><Relationship Id="rId4" Type="http://schemas.openxmlformats.org/officeDocument/2006/relationships/image" Target="../media/image19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2FC03835-5BB8-D71E-9395-6C6C05BB4A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437" b="25731"/>
          <a:stretch/>
        </p:blipFill>
        <p:spPr>
          <a:xfrm>
            <a:off x="0" y="0"/>
            <a:ext cx="12192000" cy="3144838"/>
          </a:xfrm>
        </p:spPr>
      </p:pic>
      <p:pic>
        <p:nvPicPr>
          <p:cNvPr id="9" name="Picture 8" descr="California Fish and Wildlife Logo">
            <a:extLst>
              <a:ext uri="{FF2B5EF4-FFF2-40B4-BE49-F238E27FC236}">
                <a16:creationId xmlns:a16="http://schemas.microsoft.com/office/drawing/2014/main" id="{05BEA135-73FE-53A2-FE81-A29C0E9F127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9016" y="2191216"/>
            <a:ext cx="1233966" cy="162883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439641B-5D2F-B0E9-1A5A-A2062A4786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81098" y="4352325"/>
            <a:ext cx="9829800" cy="909637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E718F"/>
                </a:solidFill>
                <a:latin typeface="Century Gothic" panose="020B0502020202020204" pitchFamily="34" charset="0"/>
              </a:rPr>
              <a:t>Rotary screw trap Passage Estimation “</a:t>
            </a:r>
            <a:r>
              <a:rPr lang="en-US" sz="4900" cap="none" dirty="0" err="1">
                <a:solidFill>
                  <a:srgbClr val="1E718F"/>
                </a:solidFill>
                <a:latin typeface="Century Gothic" panose="020B0502020202020204" pitchFamily="34" charset="0"/>
              </a:rPr>
              <a:t>RST_app</a:t>
            </a:r>
            <a:r>
              <a:rPr lang="en-US" dirty="0">
                <a:solidFill>
                  <a:srgbClr val="1E718F"/>
                </a:solidFill>
                <a:latin typeface="Century Gothic" panose="020B0502020202020204" pitchFamily="34" charset="0"/>
              </a:rPr>
              <a:t>”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8BE11D55-20E6-FF15-A042-C531832799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12589" y="5336054"/>
            <a:ext cx="9366819" cy="90963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Century Gothic"/>
              </a:rPr>
              <a:t>July 21</a:t>
            </a:r>
            <a:r>
              <a:rPr lang="en-US" baseline="30000" dirty="0">
                <a:latin typeface="Century Gothic"/>
              </a:rPr>
              <a:t>st</a:t>
            </a:r>
            <a:r>
              <a:rPr lang="en-US" dirty="0">
                <a:latin typeface="Century Gothic"/>
              </a:rPr>
              <a:t>, 2026</a:t>
            </a:r>
          </a:p>
        </p:txBody>
      </p:sp>
    </p:spTree>
    <p:extLst>
      <p:ext uri="{BB962C8B-B14F-4D97-AF65-F5344CB8AC3E}">
        <p14:creationId xmlns:p14="http://schemas.microsoft.com/office/powerpoint/2010/main" val="26386919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275E83-1C94-B6FB-0D47-9A4CF3B8A8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F2B29527-A963-7DA4-2902-BB5160FE2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1E718F"/>
                </a:solidFill>
                <a:latin typeface="Century Gothic" panose="020B0502020202020204" pitchFamily="34" charset="0"/>
              </a:rPr>
              <a:t>Outline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9CF4FFA-8E3B-6618-2F09-24FD2C1E58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81000" y="1112799"/>
            <a:ext cx="11811000" cy="0"/>
          </a:xfrm>
          <a:prstGeom prst="line">
            <a:avLst/>
          </a:prstGeom>
          <a:ln>
            <a:solidFill>
              <a:srgbClr val="1E718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8">
            <a:extLst>
              <a:ext uri="{FF2B5EF4-FFF2-40B4-BE49-F238E27FC236}">
                <a16:creationId xmlns:a16="http://schemas.microsoft.com/office/drawing/2014/main" id="{BB0CE9E0-BADF-3898-7CF2-49A36036A1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0997" y="1405289"/>
            <a:ext cx="11515827" cy="4995508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r>
              <a:rPr lang="en-US" sz="3200" b="1" dirty="0"/>
              <a:t>Why a new passage application?</a:t>
            </a:r>
          </a:p>
          <a:p>
            <a:r>
              <a:rPr lang="en-US" sz="3200" b="1" dirty="0"/>
              <a:t>Demo </a:t>
            </a:r>
            <a:r>
              <a:rPr lang="en-US" sz="3200" b="1" dirty="0" err="1"/>
              <a:t>RST_app</a:t>
            </a:r>
            <a:r>
              <a:rPr lang="en-US" sz="3200" b="1" dirty="0"/>
              <a:t>: </a:t>
            </a:r>
          </a:p>
          <a:p>
            <a:pPr lvl="1"/>
            <a:r>
              <a:rPr lang="en-US" sz="2800" b="1" dirty="0">
                <a:hlinkClick r:id="rId3"/>
              </a:rPr>
              <a:t>https://arthurbarros-cdfw.shinyapps.io/RST_app/</a:t>
            </a:r>
            <a:endParaRPr lang="en-US" sz="3200" b="1" dirty="0"/>
          </a:p>
          <a:p>
            <a:r>
              <a:rPr lang="en-US" sz="3200" b="1" dirty="0" err="1"/>
              <a:t>RST_app</a:t>
            </a:r>
            <a:r>
              <a:rPr lang="en-US" sz="3200" b="1" dirty="0"/>
              <a:t> overview and updates</a:t>
            </a:r>
          </a:p>
          <a:p>
            <a:pPr lvl="1"/>
            <a:r>
              <a:rPr lang="en-US" sz="2800" b="1" dirty="0"/>
              <a:t>Data inputs and formatting.</a:t>
            </a:r>
          </a:p>
          <a:p>
            <a:pPr lvl="1"/>
            <a:r>
              <a:rPr lang="en-US" sz="2800" b="1" dirty="0"/>
              <a:t>Application functions and flow.</a:t>
            </a:r>
          </a:p>
          <a:p>
            <a:pPr lvl="1"/>
            <a:r>
              <a:rPr lang="en-US" sz="2800" b="1" dirty="0"/>
              <a:t>Catch and efficiency model fitting.</a:t>
            </a:r>
          </a:p>
          <a:p>
            <a:pPr lvl="1"/>
            <a:r>
              <a:rPr lang="en-US" sz="2800" b="1" dirty="0"/>
              <a:t>Incorporating discharge as an environmental covariate.</a:t>
            </a:r>
          </a:p>
          <a:p>
            <a:r>
              <a:rPr lang="en-US" sz="3200" b="1" dirty="0"/>
              <a:t>Future updates and next steps</a:t>
            </a:r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r>
              <a:rPr lang="en-US" sz="3200" dirty="0"/>
              <a:t>GitHub: </a:t>
            </a:r>
            <a:r>
              <a:rPr lang="en-US" sz="3200" dirty="0">
                <a:hlinkClick r:id="rId4"/>
              </a:rPr>
              <a:t>https://github.com/arthurbarros-CDFW/RST_app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6155307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13C5F-0625-9F34-E341-F376AE4F7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90EED6DF-D8BD-070A-F490-EF88AF5F4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1E718F"/>
                </a:solidFill>
                <a:latin typeface="Century Gothic" panose="020B0502020202020204" pitchFamily="34" charset="0"/>
              </a:rPr>
              <a:t>Why a new application?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AFDF97C-E4BF-6250-7582-38D24C5F13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81000" y="1112799"/>
            <a:ext cx="11811000" cy="0"/>
          </a:xfrm>
          <a:prstGeom prst="line">
            <a:avLst/>
          </a:prstGeom>
          <a:ln>
            <a:solidFill>
              <a:srgbClr val="1E718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8">
            <a:extLst>
              <a:ext uri="{FF2B5EF4-FFF2-40B4-BE49-F238E27FC236}">
                <a16:creationId xmlns:a16="http://schemas.microsoft.com/office/drawing/2014/main" id="{F912FC44-CB1E-8A21-DEFB-40B282AA48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0997" y="1405289"/>
            <a:ext cx="11515827" cy="499550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200" b="1" dirty="0"/>
              <a:t>Last years outmigrant monitoring survey/poll</a:t>
            </a:r>
            <a:r>
              <a:rPr lang="en-US" sz="2800" b="1" dirty="0"/>
              <a:t>.</a:t>
            </a:r>
            <a:endParaRPr lang="en-US" sz="3200" dirty="0"/>
          </a:p>
          <a:p>
            <a:pPr lvl="1"/>
            <a:r>
              <a:rPr lang="en-US" sz="2800" dirty="0"/>
              <a:t>Inventory of outmigrant monitoring methods and protocols.</a:t>
            </a:r>
          </a:p>
          <a:p>
            <a:pPr lvl="1"/>
            <a:endParaRPr lang="en-US" sz="2800" dirty="0"/>
          </a:p>
          <a:p>
            <a:pPr lvl="1"/>
            <a:r>
              <a:rPr lang="en-US" sz="2800" dirty="0"/>
              <a:t>Develop a repository of documentation and guidance for current and future outmigrant surveys.</a:t>
            </a:r>
          </a:p>
          <a:p>
            <a:pPr lvl="1"/>
            <a:endParaRPr lang="en-US" sz="2800" dirty="0"/>
          </a:p>
          <a:p>
            <a:pPr lvl="1"/>
            <a:r>
              <a:rPr lang="en-US" sz="2800" dirty="0"/>
              <a:t>Provide statistical support where necessary.</a:t>
            </a:r>
          </a:p>
          <a:p>
            <a:pPr marL="457200" lvl="1" indent="0">
              <a:buNone/>
            </a:pPr>
            <a:endParaRPr lang="en-US" sz="2800" dirty="0"/>
          </a:p>
          <a:p>
            <a:pPr lvl="1"/>
            <a:r>
              <a:rPr lang="en-US" sz="2800" dirty="0"/>
              <a:t>Better understand how folks where estimating outmigrant passage.</a:t>
            </a:r>
          </a:p>
          <a:p>
            <a:pPr lvl="2"/>
            <a:r>
              <a:rPr lang="en-US" sz="2600" dirty="0"/>
              <a:t>CAMPR and DARR</a:t>
            </a:r>
          </a:p>
          <a:p>
            <a:pPr lvl="1"/>
            <a:endParaRPr lang="en-US" sz="2400" b="1" dirty="0"/>
          </a:p>
          <a:p>
            <a:pPr lvl="1"/>
            <a:endParaRPr lang="en-US" sz="2400" b="1" dirty="0"/>
          </a:p>
          <a:p>
            <a:pPr lvl="1"/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3848416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F2FDE1-B34A-EDDF-C6CD-984335670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1387FA34-2A01-2F64-C554-D40F6B17B4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1E718F"/>
                </a:solidFill>
                <a:latin typeface="Century Gothic" panose="020B0502020202020204" pitchFamily="34" charset="0"/>
              </a:rPr>
              <a:t>Why a new application?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B20862D-F963-B0B8-DDB1-E75D2BE2C9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81000" y="1112799"/>
            <a:ext cx="11811000" cy="0"/>
          </a:xfrm>
          <a:prstGeom prst="line">
            <a:avLst/>
          </a:prstGeom>
          <a:ln>
            <a:solidFill>
              <a:srgbClr val="1E718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8">
            <a:extLst>
              <a:ext uri="{FF2B5EF4-FFF2-40B4-BE49-F238E27FC236}">
                <a16:creationId xmlns:a16="http://schemas.microsoft.com/office/drawing/2014/main" id="{E7B6AFC5-E1CC-4B5C-C875-BB7C30790F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0997" y="1405289"/>
            <a:ext cx="11515827" cy="499550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200" b="1" dirty="0"/>
              <a:t>CAMPR</a:t>
            </a:r>
            <a:r>
              <a:rPr lang="en-US" sz="3200" dirty="0"/>
              <a:t>:</a:t>
            </a:r>
          </a:p>
          <a:p>
            <a:pPr lvl="1"/>
            <a:r>
              <a:rPr lang="en-US" sz="2800" dirty="0"/>
              <a:t>Estimates RST juvenile passage from user catch, efficiency trial, and visit data.</a:t>
            </a:r>
          </a:p>
          <a:p>
            <a:pPr lvl="1"/>
            <a:endParaRPr lang="en-US" sz="2800" dirty="0"/>
          </a:p>
          <a:p>
            <a:pPr lvl="1"/>
            <a:r>
              <a:rPr lang="en-US" sz="2800" dirty="0"/>
              <a:t>Requires users to utilize and maintain a back-end access database.</a:t>
            </a:r>
          </a:p>
          <a:p>
            <a:pPr lvl="1"/>
            <a:endParaRPr lang="en-US" sz="2800" dirty="0"/>
          </a:p>
          <a:p>
            <a:pPr lvl="1"/>
            <a:r>
              <a:rPr lang="en-US" sz="2800" dirty="0"/>
              <a:t>Complex “black-box” lacking detailed documentation and control.</a:t>
            </a:r>
          </a:p>
          <a:p>
            <a:pPr lvl="1"/>
            <a:endParaRPr lang="en-US" sz="2800" dirty="0"/>
          </a:p>
          <a:p>
            <a:pPr lvl="1"/>
            <a:r>
              <a:rPr lang="en-US" sz="2800" dirty="0"/>
              <a:t>Created in 2011, last updated in 2022, no longer maintained.</a:t>
            </a:r>
          </a:p>
        </p:txBody>
      </p:sp>
    </p:spTree>
    <p:extLst>
      <p:ext uri="{BB962C8B-B14F-4D97-AF65-F5344CB8AC3E}">
        <p14:creationId xmlns:p14="http://schemas.microsoft.com/office/powerpoint/2010/main" val="37527909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B07C9-90EF-CD9B-A1B0-156D6D2FE3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689F7FF7-741F-C032-4542-A8BA3C032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1E718F"/>
                </a:solidFill>
                <a:latin typeface="Century Gothic" panose="020B0502020202020204" pitchFamily="34" charset="0"/>
              </a:rPr>
              <a:t>Why a new application?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1196985-0C24-5529-856E-33F7D9D99F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81000" y="1112799"/>
            <a:ext cx="11811000" cy="0"/>
          </a:xfrm>
          <a:prstGeom prst="line">
            <a:avLst/>
          </a:prstGeom>
          <a:ln>
            <a:solidFill>
              <a:srgbClr val="1E718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8">
            <a:extLst>
              <a:ext uri="{FF2B5EF4-FFF2-40B4-BE49-F238E27FC236}">
                <a16:creationId xmlns:a16="http://schemas.microsoft.com/office/drawing/2014/main" id="{CBEE8C16-C237-4A29-8B48-9A0067CEA2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0997" y="1405289"/>
            <a:ext cx="11515827" cy="4995508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en-US" sz="3200" b="1" dirty="0" err="1"/>
              <a:t>RST_app</a:t>
            </a:r>
            <a:r>
              <a:rPr lang="en-US" sz="3200" dirty="0"/>
              <a:t>:</a:t>
            </a:r>
          </a:p>
          <a:p>
            <a:pPr lvl="1"/>
            <a:r>
              <a:rPr lang="en-US" sz="2800" dirty="0"/>
              <a:t>Standalone RShiny application that performs model fitting and outputs passage estimation tables and plots.</a:t>
            </a:r>
          </a:p>
          <a:p>
            <a:pPr lvl="1"/>
            <a:endParaRPr lang="en-US" sz="2800" dirty="0"/>
          </a:p>
          <a:p>
            <a:pPr lvl="1"/>
            <a:r>
              <a:rPr lang="en-US" sz="2800" dirty="0"/>
              <a:t>Web based application does not require R or MS Access.</a:t>
            </a:r>
          </a:p>
          <a:p>
            <a:pPr lvl="1"/>
            <a:endParaRPr lang="en-US" sz="2800" dirty="0"/>
          </a:p>
          <a:p>
            <a:pPr lvl="1"/>
            <a:r>
              <a:rPr lang="en-US" sz="2800" dirty="0"/>
              <a:t>Requires users to pre-format RST catch and efficiency trial data.</a:t>
            </a:r>
          </a:p>
          <a:p>
            <a:pPr marL="457200" lvl="1" indent="0">
              <a:buNone/>
            </a:pPr>
            <a:endParaRPr lang="en-US" sz="2800" dirty="0"/>
          </a:p>
          <a:p>
            <a:pPr lvl="1"/>
            <a:r>
              <a:rPr lang="en-US" sz="2800" dirty="0"/>
              <a:t>Provide detailed documentation on functionality and usage.</a:t>
            </a:r>
          </a:p>
          <a:p>
            <a:pPr lvl="1"/>
            <a:endParaRPr lang="en-US" sz="2800" dirty="0"/>
          </a:p>
          <a:p>
            <a:pPr lvl="1"/>
            <a:r>
              <a:rPr lang="en-US" sz="2800" dirty="0"/>
              <a:t>Support and updates provided by Fisheries Branch biostatistician (me).</a:t>
            </a:r>
          </a:p>
          <a:p>
            <a:pPr lvl="1"/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8196165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F618B-BB8C-B4F5-6EED-53024D87A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70A08927-60F9-6D2C-AAFB-9094FCCB94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1E718F"/>
                </a:solidFill>
                <a:latin typeface="Century Gothic" panose="020B0502020202020204" pitchFamily="34" charset="0"/>
              </a:rPr>
              <a:t>Demo application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132486-969A-1148-3B8B-A2DEDCD3E9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81000" y="1112799"/>
            <a:ext cx="11811000" cy="0"/>
          </a:xfrm>
          <a:prstGeom prst="line">
            <a:avLst/>
          </a:prstGeom>
          <a:ln>
            <a:solidFill>
              <a:srgbClr val="1E718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8">
            <a:extLst>
              <a:ext uri="{FF2B5EF4-FFF2-40B4-BE49-F238E27FC236}">
                <a16:creationId xmlns:a16="http://schemas.microsoft.com/office/drawing/2014/main" id="{3CB4DEBB-A635-0C8D-FEB6-196E50BFDF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0997" y="1405289"/>
            <a:ext cx="11515827" cy="499550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200" b="1" dirty="0">
                <a:hlinkClick r:id="rId3"/>
              </a:rPr>
              <a:t>https://arthurbarros-cdfw.shinyapps.io/RST_app/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6615510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326EA-264E-F33E-9C3E-F288C23CC4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2C89B1D0-8015-682C-A8E8-BA2C818FEA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1E718F"/>
                </a:solidFill>
                <a:latin typeface="Century Gothic" panose="020B0502020202020204" pitchFamily="34" charset="0"/>
              </a:rPr>
              <a:t>Data inputs and formatting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9C9AD3A-30B2-0FF4-D134-BB54B2858B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81000" y="1112799"/>
            <a:ext cx="11811000" cy="0"/>
          </a:xfrm>
          <a:prstGeom prst="line">
            <a:avLst/>
          </a:prstGeom>
          <a:ln>
            <a:solidFill>
              <a:srgbClr val="1E718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8">
            <a:extLst>
              <a:ext uri="{FF2B5EF4-FFF2-40B4-BE49-F238E27FC236}">
                <a16:creationId xmlns:a16="http://schemas.microsoft.com/office/drawing/2014/main" id="{233BE8EF-8202-F184-67CC-B0157B5E1B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0997" y="1405289"/>
            <a:ext cx="11515827" cy="499550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200" b="1" dirty="0"/>
              <a:t>Four required data sets:</a:t>
            </a:r>
          </a:p>
          <a:p>
            <a:pPr lvl="1"/>
            <a:r>
              <a:rPr lang="en-US" sz="2800" dirty="0"/>
              <a:t>catch – records of fish caught during each trap visit.</a:t>
            </a:r>
          </a:p>
          <a:p>
            <a:pPr lvl="1"/>
            <a:r>
              <a:rPr lang="en-US" sz="2800" dirty="0"/>
              <a:t>visit – records of all trap operation and </a:t>
            </a:r>
            <a:r>
              <a:rPr lang="en-US" sz="2800" dirty="0" err="1"/>
              <a:t>enviornmental</a:t>
            </a:r>
            <a:r>
              <a:rPr lang="en-US" sz="2800" dirty="0"/>
              <a:t> covariates.</a:t>
            </a:r>
          </a:p>
          <a:p>
            <a:pPr lvl="1"/>
            <a:r>
              <a:rPr lang="en-US" sz="2800" dirty="0"/>
              <a:t>release – records of fish marked and released for efficiency trials.</a:t>
            </a:r>
          </a:p>
          <a:p>
            <a:pPr lvl="1"/>
            <a:r>
              <a:rPr lang="en-US" sz="2800" dirty="0"/>
              <a:t>recapture – records of marked fish recaptured for efficiency trials.</a:t>
            </a:r>
          </a:p>
          <a:p>
            <a:r>
              <a:rPr lang="en-US" sz="3200" b="1" dirty="0"/>
              <a:t>Each table must be properly formatted, see </a:t>
            </a:r>
            <a:r>
              <a:rPr lang="en-US" sz="3200" b="1" dirty="0" err="1"/>
              <a:t>RST_app</a:t>
            </a:r>
            <a:r>
              <a:rPr lang="en-US" sz="3200" b="1" dirty="0"/>
              <a:t> user guide.</a:t>
            </a:r>
          </a:p>
          <a:p>
            <a:endParaRPr lang="en-US" sz="3200" dirty="0"/>
          </a:p>
          <a:p>
            <a:pPr marL="0" indent="0">
              <a:buNone/>
            </a:pPr>
            <a:r>
              <a:rPr lang="en-US" sz="3200" dirty="0"/>
              <a:t>Example data: </a:t>
            </a:r>
            <a:r>
              <a:rPr lang="en-US" sz="3200" dirty="0">
                <a:hlinkClick r:id="rId3"/>
              </a:rPr>
              <a:t>https://github.com/arthurbarros-CDFW/RST_app/tree/main/data/test_data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8319368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49D6C-5F23-AAA3-254E-EA43FB244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DBD084F2-5783-882E-D899-A92D03157B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>
                <a:solidFill>
                  <a:srgbClr val="1E718F"/>
                </a:solidFill>
                <a:latin typeface="Century Gothic" panose="020B0502020202020204" pitchFamily="34" charset="0"/>
              </a:rPr>
              <a:t>App functions and flow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D1DD647-95BB-4922-1138-B2053CA4B9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81000" y="1112799"/>
            <a:ext cx="11811000" cy="0"/>
          </a:xfrm>
          <a:prstGeom prst="line">
            <a:avLst/>
          </a:prstGeom>
          <a:ln>
            <a:solidFill>
              <a:srgbClr val="1E718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1BFAF28-9674-31F2-A503-1B2C6BFA9EB8}"/>
              </a:ext>
            </a:extLst>
          </p:cNvPr>
          <p:cNvGrpSpPr/>
          <p:nvPr/>
        </p:nvGrpSpPr>
        <p:grpSpPr>
          <a:xfrm>
            <a:off x="575854" y="1360485"/>
            <a:ext cx="11421291" cy="4925956"/>
            <a:chOff x="747252" y="1327355"/>
            <a:chExt cx="11421291" cy="4925956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5AFB95E-8465-5D25-CC2C-95DF00038DD7}"/>
                </a:ext>
              </a:extLst>
            </p:cNvPr>
            <p:cNvSpPr/>
            <p:nvPr/>
          </p:nvSpPr>
          <p:spPr>
            <a:xfrm>
              <a:off x="747252" y="1327355"/>
              <a:ext cx="11421291" cy="49259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21056180-46C7-2AAB-739D-5D96A64551A3}"/>
                </a:ext>
              </a:extLst>
            </p:cNvPr>
            <p:cNvGrpSpPr/>
            <p:nvPr/>
          </p:nvGrpSpPr>
          <p:grpSpPr>
            <a:xfrm>
              <a:off x="865574" y="1452829"/>
              <a:ext cx="11151926" cy="4526490"/>
              <a:chOff x="865574" y="1452829"/>
              <a:chExt cx="11151926" cy="4526490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25D110F2-12FD-0F6F-F1A1-CE43E82653E1}"/>
                  </a:ext>
                </a:extLst>
              </p:cNvPr>
              <p:cNvGrpSpPr/>
              <p:nvPr/>
            </p:nvGrpSpPr>
            <p:grpSpPr>
              <a:xfrm>
                <a:off x="4884176" y="1899766"/>
                <a:ext cx="1682216" cy="1179126"/>
                <a:chOff x="820748" y="1738059"/>
                <a:chExt cx="1682216" cy="1179126"/>
              </a:xfrm>
            </p:grpSpPr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B537C711-FC49-20B0-7F7F-CE0173327951}"/>
                    </a:ext>
                  </a:extLst>
                </p:cNvPr>
                <p:cNvSpPr/>
                <p:nvPr/>
              </p:nvSpPr>
              <p:spPr>
                <a:xfrm>
                  <a:off x="914400" y="1738059"/>
                  <a:ext cx="1528654" cy="1179126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4" name="Group 3">
                  <a:extLst>
                    <a:ext uri="{FF2B5EF4-FFF2-40B4-BE49-F238E27FC236}">
                      <a16:creationId xmlns:a16="http://schemas.microsoft.com/office/drawing/2014/main" id="{624400FB-4966-D3DF-B2A9-6C9836F3D36A}"/>
                    </a:ext>
                  </a:extLst>
                </p:cNvPr>
                <p:cNvGrpSpPr/>
                <p:nvPr/>
              </p:nvGrpSpPr>
              <p:grpSpPr>
                <a:xfrm>
                  <a:off x="820748" y="1787691"/>
                  <a:ext cx="1682216" cy="1129494"/>
                  <a:chOff x="622925" y="1710812"/>
                  <a:chExt cx="1682216" cy="1129494"/>
                </a:xfrm>
              </p:grpSpPr>
              <p:sp>
                <p:nvSpPr>
                  <p:cNvPr id="3" name="TextBox 2">
                    <a:extLst>
                      <a:ext uri="{FF2B5EF4-FFF2-40B4-BE49-F238E27FC236}">
                        <a16:creationId xmlns:a16="http://schemas.microsoft.com/office/drawing/2014/main" id="{D1030ECF-D9EC-DFA5-9005-9FBB79C0DC2B}"/>
                      </a:ext>
                    </a:extLst>
                  </p:cNvPr>
                  <p:cNvSpPr txBox="1"/>
                  <p:nvPr/>
                </p:nvSpPr>
                <p:spPr>
                  <a:xfrm>
                    <a:off x="622925" y="2470974"/>
                    <a:ext cx="1682216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dirty="0" err="1"/>
                      <a:t>est_passage.R</a:t>
                    </a:r>
                    <a:endParaRPr lang="en-US" dirty="0"/>
                  </a:p>
                </p:txBody>
              </p:sp>
              <p:pic>
                <p:nvPicPr>
                  <p:cNvPr id="1026" name="Picture 2">
                    <a:extLst>
                      <a:ext uri="{FF2B5EF4-FFF2-40B4-BE49-F238E27FC236}">
                        <a16:creationId xmlns:a16="http://schemas.microsoft.com/office/drawing/2014/main" id="{196AFB0A-0EA2-8BC7-ECD8-BADFB3C3301B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973623" y="1710812"/>
                    <a:ext cx="980820" cy="760162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</p:grp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8F64EF9-07A5-7B0F-7CB8-AE4ABE98B892}"/>
                  </a:ext>
                </a:extLst>
              </p:cNvPr>
              <p:cNvSpPr txBox="1"/>
              <p:nvPr/>
            </p:nvSpPr>
            <p:spPr>
              <a:xfrm>
                <a:off x="865574" y="1452829"/>
                <a:ext cx="1731078" cy="1323439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b="1" u="sng" dirty="0"/>
                  <a:t>Data Inputs</a:t>
                </a:r>
              </a:p>
              <a:p>
                <a:r>
                  <a:rPr lang="en-US" sz="1600" dirty="0" err="1"/>
                  <a:t>catch_data</a:t>
                </a:r>
                <a:endParaRPr lang="en-US" sz="1600" dirty="0"/>
              </a:p>
              <a:p>
                <a:r>
                  <a:rPr lang="en-US" sz="1600" dirty="0" err="1"/>
                  <a:t>visit_data</a:t>
                </a:r>
                <a:endParaRPr lang="en-US" sz="1600" dirty="0"/>
              </a:p>
              <a:p>
                <a:r>
                  <a:rPr lang="en-US" sz="1600" dirty="0" err="1"/>
                  <a:t>release_data</a:t>
                </a:r>
                <a:endParaRPr lang="en-US" sz="1600" dirty="0"/>
              </a:p>
              <a:p>
                <a:r>
                  <a:rPr lang="en-US" sz="1600" dirty="0" err="1"/>
                  <a:t>recapture_data</a:t>
                </a:r>
                <a:endParaRPr lang="en-US" sz="16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E2D8E6E7-479F-FE34-B14F-53FE5637BCE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57245" y="1996506"/>
                <a:ext cx="2226931" cy="438410"/>
              </a:xfrm>
              <a:prstGeom prst="straightConnector1">
                <a:avLst/>
              </a:prstGeom>
              <a:ln w="76200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54CC95C-BB11-AE31-622B-74A6623D944A}"/>
                  </a:ext>
                </a:extLst>
              </p:cNvPr>
              <p:cNvSpPr txBox="1"/>
              <p:nvPr/>
            </p:nvSpPr>
            <p:spPr>
              <a:xfrm>
                <a:off x="2943749" y="4227667"/>
                <a:ext cx="1408278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 err="1"/>
                  <a:t>est_catch.R</a:t>
                </a:r>
                <a:endParaRPr lang="en-US" dirty="0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A56400-E96D-A5B7-9A2F-CB0347AD6A34}"/>
                  </a:ext>
                </a:extLst>
              </p:cNvPr>
              <p:cNvSpPr txBox="1"/>
              <p:nvPr/>
            </p:nvSpPr>
            <p:spPr>
              <a:xfrm>
                <a:off x="7555949" y="4213823"/>
                <a:ext cx="1588564" cy="33855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 err="1"/>
                  <a:t>est_efficiency.R</a:t>
                </a:r>
                <a:endParaRPr lang="en-US" sz="1600" dirty="0"/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EEA24D1-B2C4-ECEF-247D-D1E3C3B0FD1D}"/>
                  </a:ext>
                </a:extLst>
              </p:cNvPr>
              <p:cNvSpPr txBox="1"/>
              <p:nvPr/>
            </p:nvSpPr>
            <p:spPr>
              <a:xfrm>
                <a:off x="869461" y="2963397"/>
                <a:ext cx="1731078" cy="1323439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b="1" u="sng" dirty="0"/>
                  <a:t>User Inputs</a:t>
                </a:r>
              </a:p>
              <a:p>
                <a:r>
                  <a:rPr lang="en-US" sz="1600" dirty="0"/>
                  <a:t>summarize.by</a:t>
                </a:r>
              </a:p>
              <a:p>
                <a:r>
                  <a:rPr lang="en-US" sz="1600" dirty="0" err="1"/>
                  <a:t>impute_all</a:t>
                </a:r>
                <a:endParaRPr lang="en-US" sz="1600" dirty="0"/>
              </a:p>
              <a:p>
                <a:r>
                  <a:rPr lang="en-US" sz="1600" dirty="0" err="1"/>
                  <a:t>survey_start</a:t>
                </a:r>
                <a:endParaRPr lang="en-US" sz="1600" dirty="0"/>
              </a:p>
              <a:p>
                <a:r>
                  <a:rPr lang="en-US" sz="1600" dirty="0" err="1"/>
                  <a:t>survey_end</a:t>
                </a:r>
                <a:endParaRPr lang="en-US" sz="1600" dirty="0"/>
              </a:p>
            </p:txBody>
          </p:sp>
          <p:cxnSp>
            <p:nvCxnSpPr>
              <p:cNvPr id="31" name="Straight Arrow Connector 30">
                <a:extLst>
                  <a:ext uri="{FF2B5EF4-FFF2-40B4-BE49-F238E27FC236}">
                    <a16:creationId xmlns:a16="http://schemas.microsoft.com/office/drawing/2014/main" id="{A1FF2BE4-9407-51CD-9B0D-0B8883DB2B4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572400" y="2750675"/>
                <a:ext cx="2262381" cy="566495"/>
              </a:xfrm>
              <a:prstGeom prst="straightConnector1">
                <a:avLst/>
              </a:prstGeom>
              <a:ln w="76200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" name="Straight Arrow Connector 62">
                <a:extLst>
                  <a:ext uri="{FF2B5EF4-FFF2-40B4-BE49-F238E27FC236}">
                    <a16:creationId xmlns:a16="http://schemas.microsoft.com/office/drawing/2014/main" id="{7A31B61B-730C-567F-A193-23F44D3325B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236043" y="3203809"/>
                <a:ext cx="867043" cy="945346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31" name="TextBox 1030">
                <a:extLst>
                  <a:ext uri="{FF2B5EF4-FFF2-40B4-BE49-F238E27FC236}">
                    <a16:creationId xmlns:a16="http://schemas.microsoft.com/office/drawing/2014/main" id="{DC0FB80F-440C-57BF-55C8-97C043471AA2}"/>
                  </a:ext>
                </a:extLst>
              </p:cNvPr>
              <p:cNvSpPr txBox="1"/>
              <p:nvPr/>
            </p:nvSpPr>
            <p:spPr>
              <a:xfrm>
                <a:off x="5103086" y="4161278"/>
                <a:ext cx="1682216" cy="50783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900" dirty="0" err="1"/>
                  <a:t>calculate_sampling_time.R</a:t>
                </a:r>
                <a:endParaRPr lang="en-US" sz="900" dirty="0"/>
              </a:p>
              <a:p>
                <a:r>
                  <a:rPr lang="en-US" sz="900" dirty="0" err="1"/>
                  <a:t>fix_dates.R</a:t>
                </a:r>
                <a:endParaRPr lang="en-US" sz="900" dirty="0"/>
              </a:p>
              <a:p>
                <a:r>
                  <a:rPr lang="en-US" sz="900" dirty="0" err="1"/>
                  <a:t>assign_batch_date.R</a:t>
                </a:r>
                <a:endParaRPr lang="en-US" sz="900" dirty="0"/>
              </a:p>
            </p:txBody>
          </p:sp>
          <p:cxnSp>
            <p:nvCxnSpPr>
              <p:cNvPr id="1050" name="Straight Arrow Connector 1049">
                <a:extLst>
                  <a:ext uri="{FF2B5EF4-FFF2-40B4-BE49-F238E27FC236}">
                    <a16:creationId xmlns:a16="http://schemas.microsoft.com/office/drawing/2014/main" id="{F6B15FE2-1A22-4B89-431F-05A455CD8EC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93712" y="3243670"/>
                <a:ext cx="1157999" cy="850847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55" name="Straight Arrow Connector 1054">
                <a:extLst>
                  <a:ext uri="{FF2B5EF4-FFF2-40B4-BE49-F238E27FC236}">
                    <a16:creationId xmlns:a16="http://schemas.microsoft.com/office/drawing/2014/main" id="{A524965F-0CC9-C8F9-C056-43F46E6EC10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393716" y="4231185"/>
                <a:ext cx="663443" cy="485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60" name="Straight Arrow Connector 1059">
                <a:extLst>
                  <a:ext uri="{FF2B5EF4-FFF2-40B4-BE49-F238E27FC236}">
                    <a16:creationId xmlns:a16="http://schemas.microsoft.com/office/drawing/2014/main" id="{6540CC88-DE68-A83C-90A0-DB163BD2B8A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397954" y="4383585"/>
                <a:ext cx="663443" cy="485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61" name="Straight Arrow Connector 1060">
                <a:extLst>
                  <a:ext uri="{FF2B5EF4-FFF2-40B4-BE49-F238E27FC236}">
                    <a16:creationId xmlns:a16="http://schemas.microsoft.com/office/drawing/2014/main" id="{4520C1DE-9396-4909-DE37-F4054360DE5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395927" y="4550232"/>
                <a:ext cx="663443" cy="485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63" name="Straight Arrow Connector 1062">
                <a:extLst>
                  <a:ext uri="{FF2B5EF4-FFF2-40B4-BE49-F238E27FC236}">
                    <a16:creationId xmlns:a16="http://schemas.microsoft.com/office/drawing/2014/main" id="{F01DE073-C6C2-A481-00B3-74B4A9B878C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38904" y="4230700"/>
                <a:ext cx="663443" cy="485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64" name="Straight Arrow Connector 1063">
                <a:extLst>
                  <a:ext uri="{FF2B5EF4-FFF2-40B4-BE49-F238E27FC236}">
                    <a16:creationId xmlns:a16="http://schemas.microsoft.com/office/drawing/2014/main" id="{138FBE94-5949-9410-F8DE-F23CC386500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43142" y="4383100"/>
                <a:ext cx="663443" cy="485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65" name="Straight Arrow Connector 1064">
                <a:extLst>
                  <a:ext uri="{FF2B5EF4-FFF2-40B4-BE49-F238E27FC236}">
                    <a16:creationId xmlns:a16="http://schemas.microsoft.com/office/drawing/2014/main" id="{CF12B479-3A66-1EE0-DB5D-7F49730250C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41115" y="4549747"/>
                <a:ext cx="663443" cy="485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71" name="TextBox 1070">
                <a:extLst>
                  <a:ext uri="{FF2B5EF4-FFF2-40B4-BE49-F238E27FC236}">
                    <a16:creationId xmlns:a16="http://schemas.microsoft.com/office/drawing/2014/main" id="{6A083AD4-035C-56A8-BE8E-0DDCBA9E2C7A}"/>
                  </a:ext>
                </a:extLst>
              </p:cNvPr>
              <p:cNvSpPr txBox="1"/>
              <p:nvPr/>
            </p:nvSpPr>
            <p:spPr>
              <a:xfrm>
                <a:off x="2806780" y="5056179"/>
                <a:ext cx="1682216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 err="1"/>
                  <a:t>model_catch.R</a:t>
                </a:r>
                <a:endParaRPr lang="en-US" dirty="0"/>
              </a:p>
            </p:txBody>
          </p:sp>
          <p:sp>
            <p:nvSpPr>
              <p:cNvPr id="1076" name="TextBox 1075">
                <a:extLst>
                  <a:ext uri="{FF2B5EF4-FFF2-40B4-BE49-F238E27FC236}">
                    <a16:creationId xmlns:a16="http://schemas.microsoft.com/office/drawing/2014/main" id="{DBDDDEFA-88A7-BD8F-F61C-85F7784D0B8C}"/>
                  </a:ext>
                </a:extLst>
              </p:cNvPr>
              <p:cNvSpPr txBox="1"/>
              <p:nvPr/>
            </p:nvSpPr>
            <p:spPr>
              <a:xfrm>
                <a:off x="7551871" y="5147385"/>
                <a:ext cx="1682216" cy="30777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 err="1"/>
                  <a:t>model_efficiency.R</a:t>
                </a:r>
                <a:endParaRPr lang="en-US" sz="1400" dirty="0"/>
              </a:p>
            </p:txBody>
          </p:sp>
          <p:cxnSp>
            <p:nvCxnSpPr>
              <p:cNvPr id="1078" name="Straight Arrow Connector 1077">
                <a:extLst>
                  <a:ext uri="{FF2B5EF4-FFF2-40B4-BE49-F238E27FC236}">
                    <a16:creationId xmlns:a16="http://schemas.microsoft.com/office/drawing/2014/main" id="{EF2776C5-F357-F61C-E9CD-0B58B0F8B69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971724" y="4640030"/>
                <a:ext cx="0" cy="367288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0" name="Straight Arrow Connector 1079">
                <a:extLst>
                  <a:ext uri="{FF2B5EF4-FFF2-40B4-BE49-F238E27FC236}">
                    <a16:creationId xmlns:a16="http://schemas.microsoft.com/office/drawing/2014/main" id="{0B7E15EF-23DD-BF40-3676-21292B62089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694545" y="4596999"/>
                <a:ext cx="0" cy="488831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84" name="TextBox 1083">
                <a:extLst>
                  <a:ext uri="{FF2B5EF4-FFF2-40B4-BE49-F238E27FC236}">
                    <a16:creationId xmlns:a16="http://schemas.microsoft.com/office/drawing/2014/main" id="{D01BED6D-0FC1-7191-B4BE-C9524901E489}"/>
                  </a:ext>
                </a:extLst>
              </p:cNvPr>
              <p:cNvSpPr txBox="1"/>
              <p:nvPr/>
            </p:nvSpPr>
            <p:spPr>
              <a:xfrm>
                <a:off x="8603789" y="4747276"/>
                <a:ext cx="1682216" cy="24622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000" dirty="0" err="1"/>
                  <a:t>find_visits_near_release.R</a:t>
                </a:r>
                <a:endParaRPr lang="en-US" sz="1000" dirty="0"/>
              </a:p>
            </p:txBody>
          </p:sp>
          <p:cxnSp>
            <p:nvCxnSpPr>
              <p:cNvPr id="1086" name="Straight Arrow Connector 1085">
                <a:extLst>
                  <a:ext uri="{FF2B5EF4-FFF2-40B4-BE49-F238E27FC236}">
                    <a16:creationId xmlns:a16="http://schemas.microsoft.com/office/drawing/2014/main" id="{B8F73A6B-B9F9-144B-488C-5C18DD4DFA9D}"/>
                  </a:ext>
                </a:extLst>
              </p:cNvPr>
              <p:cNvCxnSpPr>
                <a:cxnSpLocks/>
                <a:stCxn id="1084" idx="0"/>
                <a:endCxn id="24" idx="3"/>
              </p:cNvCxnSpPr>
              <p:nvPr/>
            </p:nvCxnSpPr>
            <p:spPr>
              <a:xfrm flipH="1" flipV="1">
                <a:off x="9144513" y="4383100"/>
                <a:ext cx="300384" cy="364176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97" name="TextBox 1096">
                <a:extLst>
                  <a:ext uri="{FF2B5EF4-FFF2-40B4-BE49-F238E27FC236}">
                    <a16:creationId xmlns:a16="http://schemas.microsoft.com/office/drawing/2014/main" id="{12CB0752-F8A1-C486-F0E8-AC51EAC4E91C}"/>
                  </a:ext>
                </a:extLst>
              </p:cNvPr>
              <p:cNvSpPr txBox="1"/>
              <p:nvPr/>
            </p:nvSpPr>
            <p:spPr>
              <a:xfrm>
                <a:off x="7694545" y="3078892"/>
                <a:ext cx="1892851" cy="33855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 err="1"/>
                  <a:t>passage_boot.R</a:t>
                </a:r>
                <a:endParaRPr lang="en-US" sz="1600" dirty="0"/>
              </a:p>
            </p:txBody>
          </p:sp>
          <p:cxnSp>
            <p:nvCxnSpPr>
              <p:cNvPr id="1098" name="Straight Arrow Connector 1097">
                <a:extLst>
                  <a:ext uri="{FF2B5EF4-FFF2-40B4-BE49-F238E27FC236}">
                    <a16:creationId xmlns:a16="http://schemas.microsoft.com/office/drawing/2014/main" id="{4B79FFC2-BA4C-C2BE-CC05-A3897B82E0D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524839" y="2883665"/>
                <a:ext cx="1128153" cy="353943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03" name="TextBox 1102">
                <a:extLst>
                  <a:ext uri="{FF2B5EF4-FFF2-40B4-BE49-F238E27FC236}">
                    <a16:creationId xmlns:a16="http://schemas.microsoft.com/office/drawing/2014/main" id="{53AC842C-A473-DCE0-3329-23F7D98717D1}"/>
                  </a:ext>
                </a:extLst>
              </p:cNvPr>
              <p:cNvSpPr txBox="1"/>
              <p:nvPr/>
            </p:nvSpPr>
            <p:spPr>
              <a:xfrm>
                <a:off x="7897369" y="1545380"/>
                <a:ext cx="1892851" cy="1323439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b="1" u="sng" dirty="0"/>
                  <a:t>Outputs</a:t>
                </a:r>
              </a:p>
              <a:p>
                <a:r>
                  <a:rPr lang="en-US" sz="1600" dirty="0" err="1"/>
                  <a:t>passage_estimates</a:t>
                </a:r>
                <a:endParaRPr lang="en-US" sz="1600" dirty="0"/>
              </a:p>
              <a:p>
                <a:r>
                  <a:rPr lang="en-US" sz="1600" dirty="0" err="1"/>
                  <a:t>efficiency_results</a:t>
                </a:r>
                <a:endParaRPr lang="en-US" sz="1600" dirty="0"/>
              </a:p>
              <a:p>
                <a:r>
                  <a:rPr lang="en-US" sz="1600" dirty="0" err="1"/>
                  <a:t>catch_results</a:t>
                </a:r>
                <a:endParaRPr lang="en-US" sz="1600" dirty="0"/>
              </a:p>
              <a:p>
                <a:r>
                  <a:rPr lang="en-US" sz="1600" dirty="0"/>
                  <a:t>summary plots</a:t>
                </a:r>
              </a:p>
            </p:txBody>
          </p:sp>
          <p:cxnSp>
            <p:nvCxnSpPr>
              <p:cNvPr id="1106" name="Straight Arrow Connector 1105">
                <a:extLst>
                  <a:ext uri="{FF2B5EF4-FFF2-40B4-BE49-F238E27FC236}">
                    <a16:creationId xmlns:a16="http://schemas.microsoft.com/office/drawing/2014/main" id="{AFF0A3B8-EBD8-FEF9-5188-91DC1BF916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55877" y="2330560"/>
                <a:ext cx="1201538" cy="0"/>
              </a:xfrm>
              <a:prstGeom prst="straightConnector1">
                <a:avLst/>
              </a:prstGeom>
              <a:ln w="76200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CD32D64-CD6D-F599-9041-7FDB1E87E952}"/>
                  </a:ext>
                </a:extLst>
              </p:cNvPr>
              <p:cNvSpPr txBox="1"/>
              <p:nvPr/>
            </p:nvSpPr>
            <p:spPr>
              <a:xfrm>
                <a:off x="9985621" y="5640765"/>
                <a:ext cx="2031879" cy="33855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 err="1"/>
                  <a:t>summarize_index.R</a:t>
                </a:r>
                <a:endParaRPr lang="en-US" sz="1600" dirty="0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DD3D82D-363B-050B-0FD5-607FF739383A}"/>
                  </a:ext>
                </a:extLst>
              </p:cNvPr>
              <p:cNvSpPr txBox="1"/>
              <p:nvPr/>
            </p:nvSpPr>
            <p:spPr>
              <a:xfrm>
                <a:off x="9790219" y="3962191"/>
                <a:ext cx="2227281" cy="33855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 err="1"/>
                  <a:t>summarize_passage.R</a:t>
                </a:r>
                <a:endParaRPr lang="en-US" sz="1600" dirty="0"/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F53F0ECB-AC8B-D233-D372-0D077E3D595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942938" y="4412333"/>
                <a:ext cx="0" cy="117736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436D742-784D-2274-AA0E-C97173FE74AA}"/>
                  </a:ext>
                </a:extLst>
              </p:cNvPr>
              <p:cNvCxnSpPr>
                <a:cxnSpLocks/>
                <a:endCxn id="1097" idx="3"/>
              </p:cNvCxnSpPr>
              <p:nvPr/>
            </p:nvCxnSpPr>
            <p:spPr>
              <a:xfrm flipH="1" flipV="1">
                <a:off x="9587396" y="3248169"/>
                <a:ext cx="1116890" cy="664915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914105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EE70F-06FC-C248-E9C8-2E4F7D7D92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AFBB38C9-AEF4-1E4A-C8B9-E205E78019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354" y="553411"/>
            <a:ext cx="11421291" cy="760412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1E718F"/>
                </a:solidFill>
                <a:latin typeface="Century Gothic" panose="020B0502020202020204" pitchFamily="34" charset="0"/>
              </a:rPr>
              <a:t>App functions and flow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EB8931E-E819-0682-030E-C8565FCB86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85356" y="1228302"/>
            <a:ext cx="11811000" cy="0"/>
          </a:xfrm>
          <a:prstGeom prst="line">
            <a:avLst/>
          </a:prstGeom>
          <a:ln>
            <a:solidFill>
              <a:srgbClr val="1E718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9F0F3A1-17A4-628A-DF2B-B6D7FD5428C6}"/>
              </a:ext>
            </a:extLst>
          </p:cNvPr>
          <p:cNvGrpSpPr/>
          <p:nvPr/>
        </p:nvGrpSpPr>
        <p:grpSpPr>
          <a:xfrm>
            <a:off x="512833" y="1387888"/>
            <a:ext cx="11421291" cy="4925956"/>
            <a:chOff x="747252" y="1327355"/>
            <a:chExt cx="11421291" cy="4925956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960F8851-7CB5-4A56-2E78-2A4FC6E9CF61}"/>
                </a:ext>
              </a:extLst>
            </p:cNvPr>
            <p:cNvSpPr/>
            <p:nvPr/>
          </p:nvSpPr>
          <p:spPr>
            <a:xfrm>
              <a:off x="747252" y="1327355"/>
              <a:ext cx="11421291" cy="49259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F064EE31-633F-65F8-4F2F-65E9BBF70C36}"/>
                </a:ext>
              </a:extLst>
            </p:cNvPr>
            <p:cNvGrpSpPr/>
            <p:nvPr/>
          </p:nvGrpSpPr>
          <p:grpSpPr>
            <a:xfrm>
              <a:off x="865574" y="1452829"/>
              <a:ext cx="11151926" cy="4526490"/>
              <a:chOff x="865574" y="1452829"/>
              <a:chExt cx="11151926" cy="4526490"/>
            </a:xfrm>
          </p:grpSpPr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8FAED5F-8E39-B3AA-593C-F1EAAC0D4B15}"/>
                  </a:ext>
                </a:extLst>
              </p:cNvPr>
              <p:cNvSpPr txBox="1"/>
              <p:nvPr/>
            </p:nvSpPr>
            <p:spPr>
              <a:xfrm>
                <a:off x="6838904" y="2486533"/>
                <a:ext cx="1682216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 err="1"/>
                  <a:t>est_passage.R</a:t>
                </a:r>
                <a:endParaRPr lang="en-US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E4242D5-C48B-5DAB-0CF2-33F55BE927FB}"/>
                  </a:ext>
                </a:extLst>
              </p:cNvPr>
              <p:cNvSpPr txBox="1"/>
              <p:nvPr/>
            </p:nvSpPr>
            <p:spPr>
              <a:xfrm>
                <a:off x="865574" y="1452829"/>
                <a:ext cx="1731078" cy="1323439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b="1" u="sng" dirty="0"/>
                  <a:t>Data Inputs</a:t>
                </a:r>
              </a:p>
              <a:p>
                <a:r>
                  <a:rPr lang="en-US" sz="1600" dirty="0" err="1"/>
                  <a:t>catch_data</a:t>
                </a:r>
                <a:endParaRPr lang="en-US" sz="1600" dirty="0"/>
              </a:p>
              <a:p>
                <a:r>
                  <a:rPr lang="en-US" sz="1600" dirty="0" err="1"/>
                  <a:t>visit_data</a:t>
                </a:r>
                <a:endParaRPr lang="en-US" sz="1600" dirty="0"/>
              </a:p>
              <a:p>
                <a:r>
                  <a:rPr lang="en-US" sz="1600" dirty="0" err="1"/>
                  <a:t>release_data</a:t>
                </a:r>
                <a:endParaRPr lang="en-US" sz="1600" dirty="0"/>
              </a:p>
              <a:p>
                <a:r>
                  <a:rPr lang="en-US" sz="1600" dirty="0" err="1"/>
                  <a:t>recapture_data</a:t>
                </a:r>
                <a:endParaRPr lang="en-US" sz="16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B168C0FD-054E-D605-5DDF-8717986A50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57245" y="1996506"/>
                <a:ext cx="2226931" cy="438410"/>
              </a:xfrm>
              <a:prstGeom prst="straightConnector1">
                <a:avLst/>
              </a:prstGeom>
              <a:ln w="76200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A381505-775B-398B-4DAA-CA228C9D351D}"/>
                  </a:ext>
                </a:extLst>
              </p:cNvPr>
              <p:cNvSpPr txBox="1"/>
              <p:nvPr/>
            </p:nvSpPr>
            <p:spPr>
              <a:xfrm>
                <a:off x="2943749" y="4227667"/>
                <a:ext cx="1408278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 err="1"/>
                  <a:t>est_catch.R</a:t>
                </a:r>
                <a:endParaRPr lang="en-US" dirty="0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9BA1585-19D1-E616-2EC1-F73BA95FAA06}"/>
                  </a:ext>
                </a:extLst>
              </p:cNvPr>
              <p:cNvSpPr txBox="1"/>
              <p:nvPr/>
            </p:nvSpPr>
            <p:spPr>
              <a:xfrm>
                <a:off x="7551711" y="4155586"/>
                <a:ext cx="1857041" cy="58477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 err="1"/>
                  <a:t>compare_efficiency_models.R</a:t>
                </a:r>
                <a:endParaRPr lang="en-US" sz="1600" dirty="0"/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3ACF69F6-7EFE-AC2B-5B7F-64F7BC9652DD}"/>
                  </a:ext>
                </a:extLst>
              </p:cNvPr>
              <p:cNvSpPr txBox="1"/>
              <p:nvPr/>
            </p:nvSpPr>
            <p:spPr>
              <a:xfrm>
                <a:off x="869460" y="2963397"/>
                <a:ext cx="1876659" cy="1569660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b="1" u="sng" dirty="0"/>
                  <a:t>User Inputs</a:t>
                </a:r>
              </a:p>
              <a:p>
                <a:r>
                  <a:rPr lang="en-US" sz="1600" dirty="0"/>
                  <a:t>summarize.by</a:t>
                </a:r>
              </a:p>
              <a:p>
                <a:r>
                  <a:rPr lang="en-US" sz="1600" dirty="0" err="1"/>
                  <a:t>impute_all</a:t>
                </a:r>
                <a:endParaRPr lang="en-US" sz="1600" dirty="0"/>
              </a:p>
              <a:p>
                <a:r>
                  <a:rPr lang="en-US" sz="1600" dirty="0" err="1"/>
                  <a:t>survey_start</a:t>
                </a:r>
                <a:endParaRPr lang="en-US" sz="1600" dirty="0"/>
              </a:p>
              <a:p>
                <a:r>
                  <a:rPr lang="en-US" sz="1600" dirty="0" err="1"/>
                  <a:t>survey_end</a:t>
                </a:r>
                <a:endParaRPr lang="en-US" sz="1600" dirty="0"/>
              </a:p>
              <a:p>
                <a:r>
                  <a:rPr lang="en-US" sz="1600" dirty="0" err="1"/>
                  <a:t>Include_discharge</a:t>
                </a:r>
                <a:endParaRPr lang="en-US" sz="1600" dirty="0"/>
              </a:p>
            </p:txBody>
          </p:sp>
          <p:cxnSp>
            <p:nvCxnSpPr>
              <p:cNvPr id="31" name="Straight Arrow Connector 30">
                <a:extLst>
                  <a:ext uri="{FF2B5EF4-FFF2-40B4-BE49-F238E27FC236}">
                    <a16:creationId xmlns:a16="http://schemas.microsoft.com/office/drawing/2014/main" id="{D8E75CD3-BBA7-2D03-B337-829884C6EEC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572400" y="2750675"/>
                <a:ext cx="2262381" cy="566495"/>
              </a:xfrm>
              <a:prstGeom prst="straightConnector1">
                <a:avLst/>
              </a:prstGeom>
              <a:ln w="76200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" name="Straight Arrow Connector 62">
                <a:extLst>
                  <a:ext uri="{FF2B5EF4-FFF2-40B4-BE49-F238E27FC236}">
                    <a16:creationId xmlns:a16="http://schemas.microsoft.com/office/drawing/2014/main" id="{3D529E5F-E1B5-0CF2-C3BF-BC64E09F2FC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236043" y="2963397"/>
                <a:ext cx="1046370" cy="1185758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31" name="TextBox 1030">
                <a:extLst>
                  <a:ext uri="{FF2B5EF4-FFF2-40B4-BE49-F238E27FC236}">
                    <a16:creationId xmlns:a16="http://schemas.microsoft.com/office/drawing/2014/main" id="{AE065C8F-19BC-132B-469B-CFC1BE308816}"/>
                  </a:ext>
                </a:extLst>
              </p:cNvPr>
              <p:cNvSpPr txBox="1"/>
              <p:nvPr/>
            </p:nvSpPr>
            <p:spPr>
              <a:xfrm>
                <a:off x="5103086" y="4161278"/>
                <a:ext cx="1682216" cy="50783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900" dirty="0" err="1"/>
                  <a:t>calculate_sampling_time.R</a:t>
                </a:r>
                <a:endParaRPr lang="en-US" sz="900" dirty="0"/>
              </a:p>
              <a:p>
                <a:r>
                  <a:rPr lang="en-US" sz="900" dirty="0" err="1"/>
                  <a:t>fix_dates.R</a:t>
                </a:r>
                <a:endParaRPr lang="en-US" sz="900" dirty="0"/>
              </a:p>
              <a:p>
                <a:r>
                  <a:rPr lang="en-US" sz="900" dirty="0" err="1"/>
                  <a:t>assign_batch_date.R</a:t>
                </a:r>
                <a:endParaRPr lang="en-US" sz="900" dirty="0"/>
              </a:p>
            </p:txBody>
          </p:sp>
          <p:cxnSp>
            <p:nvCxnSpPr>
              <p:cNvPr id="1050" name="Straight Arrow Connector 1049">
                <a:extLst>
                  <a:ext uri="{FF2B5EF4-FFF2-40B4-BE49-F238E27FC236}">
                    <a16:creationId xmlns:a16="http://schemas.microsoft.com/office/drawing/2014/main" id="{97755799-F1FD-A967-F08E-9363B5C1BB4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67937" y="2935106"/>
                <a:ext cx="1383774" cy="1159411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55" name="Straight Arrow Connector 1054">
                <a:extLst>
                  <a:ext uri="{FF2B5EF4-FFF2-40B4-BE49-F238E27FC236}">
                    <a16:creationId xmlns:a16="http://schemas.microsoft.com/office/drawing/2014/main" id="{5CD13901-403C-E948-C9A3-9727ECFE483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393716" y="4231185"/>
                <a:ext cx="663443" cy="485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60" name="Straight Arrow Connector 1059">
                <a:extLst>
                  <a:ext uri="{FF2B5EF4-FFF2-40B4-BE49-F238E27FC236}">
                    <a16:creationId xmlns:a16="http://schemas.microsoft.com/office/drawing/2014/main" id="{96D5E890-D70F-3195-9D6D-2CBCB3731B1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397954" y="4383585"/>
                <a:ext cx="663443" cy="485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61" name="Straight Arrow Connector 1060">
                <a:extLst>
                  <a:ext uri="{FF2B5EF4-FFF2-40B4-BE49-F238E27FC236}">
                    <a16:creationId xmlns:a16="http://schemas.microsoft.com/office/drawing/2014/main" id="{29B9FA76-DE5D-D419-4C08-D3F0962AC29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395927" y="4550232"/>
                <a:ext cx="663443" cy="485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63" name="Straight Arrow Connector 1062">
                <a:extLst>
                  <a:ext uri="{FF2B5EF4-FFF2-40B4-BE49-F238E27FC236}">
                    <a16:creationId xmlns:a16="http://schemas.microsoft.com/office/drawing/2014/main" id="{41F46B7F-9A55-317C-3A60-92142751BEE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38904" y="4230700"/>
                <a:ext cx="663443" cy="485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64" name="Straight Arrow Connector 1063">
                <a:extLst>
                  <a:ext uri="{FF2B5EF4-FFF2-40B4-BE49-F238E27FC236}">
                    <a16:creationId xmlns:a16="http://schemas.microsoft.com/office/drawing/2014/main" id="{0BB107F3-8AA7-21F4-EDC3-9E149AEDD51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43142" y="4383100"/>
                <a:ext cx="663443" cy="485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65" name="Straight Arrow Connector 1064">
                <a:extLst>
                  <a:ext uri="{FF2B5EF4-FFF2-40B4-BE49-F238E27FC236}">
                    <a16:creationId xmlns:a16="http://schemas.microsoft.com/office/drawing/2014/main" id="{D05CD933-A1CA-AACB-45E3-85DFED37AAD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41115" y="4549747"/>
                <a:ext cx="663443" cy="485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71" name="TextBox 1070">
                <a:extLst>
                  <a:ext uri="{FF2B5EF4-FFF2-40B4-BE49-F238E27FC236}">
                    <a16:creationId xmlns:a16="http://schemas.microsoft.com/office/drawing/2014/main" id="{6C884AB9-710D-6F39-34A2-C50FA1F7A618}"/>
                  </a:ext>
                </a:extLst>
              </p:cNvPr>
              <p:cNvSpPr txBox="1"/>
              <p:nvPr/>
            </p:nvSpPr>
            <p:spPr>
              <a:xfrm>
                <a:off x="2806780" y="5056179"/>
                <a:ext cx="1682216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 err="1"/>
                  <a:t>model_catch.R</a:t>
                </a:r>
                <a:endParaRPr lang="en-US" dirty="0"/>
              </a:p>
            </p:txBody>
          </p:sp>
          <p:sp>
            <p:nvSpPr>
              <p:cNvPr id="1076" name="TextBox 1075">
                <a:extLst>
                  <a:ext uri="{FF2B5EF4-FFF2-40B4-BE49-F238E27FC236}">
                    <a16:creationId xmlns:a16="http://schemas.microsoft.com/office/drawing/2014/main" id="{C0CBF0DE-FCF2-A501-9798-702D50A3B20E}"/>
                  </a:ext>
                </a:extLst>
              </p:cNvPr>
              <p:cNvSpPr txBox="1"/>
              <p:nvPr/>
            </p:nvSpPr>
            <p:spPr>
              <a:xfrm>
                <a:off x="7156646" y="5324480"/>
                <a:ext cx="1927746" cy="30777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 err="1"/>
                  <a:t>impute_efficiency.R</a:t>
                </a:r>
                <a:endParaRPr lang="en-US" sz="1400" dirty="0"/>
              </a:p>
            </p:txBody>
          </p:sp>
          <p:cxnSp>
            <p:nvCxnSpPr>
              <p:cNvPr id="1078" name="Straight Arrow Connector 1077">
                <a:extLst>
                  <a:ext uri="{FF2B5EF4-FFF2-40B4-BE49-F238E27FC236}">
                    <a16:creationId xmlns:a16="http://schemas.microsoft.com/office/drawing/2014/main" id="{6F406B72-C127-E67E-AC23-EDFED302058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971724" y="4640030"/>
                <a:ext cx="0" cy="367288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0" name="Straight Arrow Connector 1079">
                <a:extLst>
                  <a:ext uri="{FF2B5EF4-FFF2-40B4-BE49-F238E27FC236}">
                    <a16:creationId xmlns:a16="http://schemas.microsoft.com/office/drawing/2014/main" id="{0E1FB4CC-26B5-6C21-2FCA-AB0459AE740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757415" y="4836976"/>
                <a:ext cx="0" cy="488831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84" name="TextBox 1083">
                <a:extLst>
                  <a:ext uri="{FF2B5EF4-FFF2-40B4-BE49-F238E27FC236}">
                    <a16:creationId xmlns:a16="http://schemas.microsoft.com/office/drawing/2014/main" id="{CE694AD2-C440-443C-CD49-2841BA0F2A20}"/>
                  </a:ext>
                </a:extLst>
              </p:cNvPr>
              <p:cNvSpPr txBox="1"/>
              <p:nvPr/>
            </p:nvSpPr>
            <p:spPr>
              <a:xfrm>
                <a:off x="9185458" y="4836976"/>
                <a:ext cx="1682216" cy="24622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000" dirty="0" err="1"/>
                  <a:t>find_visits_near_release.R</a:t>
                </a:r>
                <a:endParaRPr lang="en-US" sz="1000" dirty="0"/>
              </a:p>
            </p:txBody>
          </p:sp>
          <p:cxnSp>
            <p:nvCxnSpPr>
              <p:cNvPr id="1086" name="Straight Arrow Connector 1085">
                <a:extLst>
                  <a:ext uri="{FF2B5EF4-FFF2-40B4-BE49-F238E27FC236}">
                    <a16:creationId xmlns:a16="http://schemas.microsoft.com/office/drawing/2014/main" id="{7350637E-ACCA-1E95-4CB0-A25A67C6CF4A}"/>
                  </a:ext>
                </a:extLst>
              </p:cNvPr>
              <p:cNvCxnSpPr>
                <a:cxnSpLocks/>
                <a:stCxn id="1084" idx="0"/>
                <a:endCxn id="24" idx="3"/>
              </p:cNvCxnSpPr>
              <p:nvPr/>
            </p:nvCxnSpPr>
            <p:spPr>
              <a:xfrm flipH="1" flipV="1">
                <a:off x="9408752" y="4447974"/>
                <a:ext cx="617814" cy="389002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97" name="TextBox 1096">
                <a:extLst>
                  <a:ext uri="{FF2B5EF4-FFF2-40B4-BE49-F238E27FC236}">
                    <a16:creationId xmlns:a16="http://schemas.microsoft.com/office/drawing/2014/main" id="{26049915-591B-7E21-BEF1-A1201B5AD22F}"/>
                  </a:ext>
                </a:extLst>
              </p:cNvPr>
              <p:cNvSpPr txBox="1"/>
              <p:nvPr/>
            </p:nvSpPr>
            <p:spPr>
              <a:xfrm>
                <a:off x="7740174" y="3263055"/>
                <a:ext cx="1892851" cy="33855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 err="1"/>
                  <a:t>passage_boot.R</a:t>
                </a:r>
                <a:endParaRPr lang="en-US" sz="1600" dirty="0"/>
              </a:p>
            </p:txBody>
          </p:sp>
          <p:cxnSp>
            <p:nvCxnSpPr>
              <p:cNvPr id="1098" name="Straight Arrow Connector 1097">
                <a:extLst>
                  <a:ext uri="{FF2B5EF4-FFF2-40B4-BE49-F238E27FC236}">
                    <a16:creationId xmlns:a16="http://schemas.microsoft.com/office/drawing/2014/main" id="{746212D8-5515-ED52-3C7C-6F64856C03C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646561" y="2874650"/>
                <a:ext cx="970948" cy="351819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03" name="TextBox 1102">
                <a:extLst>
                  <a:ext uri="{FF2B5EF4-FFF2-40B4-BE49-F238E27FC236}">
                    <a16:creationId xmlns:a16="http://schemas.microsoft.com/office/drawing/2014/main" id="{44F67654-419B-FE7E-A3B3-1638D90F19C9}"/>
                  </a:ext>
                </a:extLst>
              </p:cNvPr>
              <p:cNvSpPr txBox="1"/>
              <p:nvPr/>
            </p:nvSpPr>
            <p:spPr>
              <a:xfrm>
                <a:off x="9812653" y="1611667"/>
                <a:ext cx="1892851" cy="1323439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b="1" u="sng" dirty="0"/>
                  <a:t>Outputs</a:t>
                </a:r>
              </a:p>
              <a:p>
                <a:r>
                  <a:rPr lang="en-US" sz="1600" dirty="0" err="1"/>
                  <a:t>passage_estimates</a:t>
                </a:r>
                <a:endParaRPr lang="en-US" sz="1600" dirty="0"/>
              </a:p>
              <a:p>
                <a:r>
                  <a:rPr lang="en-US" sz="1600" dirty="0" err="1"/>
                  <a:t>efficiency_results</a:t>
                </a:r>
                <a:endParaRPr lang="en-US" sz="1600" dirty="0"/>
              </a:p>
              <a:p>
                <a:r>
                  <a:rPr lang="en-US" sz="1600" dirty="0" err="1"/>
                  <a:t>catch_results</a:t>
                </a:r>
                <a:endParaRPr lang="en-US" sz="1600" dirty="0"/>
              </a:p>
              <a:p>
                <a:r>
                  <a:rPr lang="en-US" sz="1600" dirty="0"/>
                  <a:t>summary plots</a:t>
                </a:r>
              </a:p>
            </p:txBody>
          </p:sp>
          <p:cxnSp>
            <p:nvCxnSpPr>
              <p:cNvPr id="1106" name="Straight Arrow Connector 1105">
                <a:extLst>
                  <a:ext uri="{FF2B5EF4-FFF2-40B4-BE49-F238E27FC236}">
                    <a16:creationId xmlns:a16="http://schemas.microsoft.com/office/drawing/2014/main" id="{7F4CB94D-5B75-0A3F-DCD1-917B59ABB0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00809" y="1955779"/>
                <a:ext cx="3286587" cy="40727"/>
              </a:xfrm>
              <a:prstGeom prst="straightConnector1">
                <a:avLst/>
              </a:prstGeom>
              <a:ln w="76200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90DD2E-38E6-64E3-AB8E-5A3BDDC2169E}"/>
                  </a:ext>
                </a:extLst>
              </p:cNvPr>
              <p:cNvSpPr txBox="1"/>
              <p:nvPr/>
            </p:nvSpPr>
            <p:spPr>
              <a:xfrm>
                <a:off x="9985621" y="5640765"/>
                <a:ext cx="2031879" cy="33855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 err="1"/>
                  <a:t>summarize_index.R</a:t>
                </a:r>
                <a:endParaRPr lang="en-US" sz="1600" dirty="0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0FD9EAB-5A3B-3D03-16BF-80D22B59D383}"/>
                  </a:ext>
                </a:extLst>
              </p:cNvPr>
              <p:cNvSpPr txBox="1"/>
              <p:nvPr/>
            </p:nvSpPr>
            <p:spPr>
              <a:xfrm>
                <a:off x="9790219" y="3962191"/>
                <a:ext cx="2227281" cy="33855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 err="1"/>
                  <a:t>summarize_passage.R</a:t>
                </a:r>
                <a:endParaRPr lang="en-US" sz="1600" dirty="0"/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2DBA41F4-4306-A6B0-ADA3-54DDFC2096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942938" y="4412333"/>
                <a:ext cx="0" cy="117736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0CDF33E7-C58F-4393-8B41-3761AC835FE5}"/>
                  </a:ext>
                </a:extLst>
              </p:cNvPr>
              <p:cNvCxnSpPr>
                <a:cxnSpLocks/>
                <a:stCxn id="13" idx="0"/>
                <a:endCxn id="1097" idx="3"/>
              </p:cNvCxnSpPr>
              <p:nvPr/>
            </p:nvCxnSpPr>
            <p:spPr>
              <a:xfrm flipH="1" flipV="1">
                <a:off x="9633025" y="3432332"/>
                <a:ext cx="1270835" cy="529859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F11A58D6-89E7-FE3E-7DA5-AE3C84D0873A}"/>
              </a:ext>
            </a:extLst>
          </p:cNvPr>
          <p:cNvSpPr txBox="1"/>
          <p:nvPr/>
        </p:nvSpPr>
        <p:spPr>
          <a:xfrm>
            <a:off x="4795711" y="2648348"/>
            <a:ext cx="980821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app.R</a:t>
            </a:r>
            <a:endParaRPr lang="en-US" dirty="0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554F3ED-77F0-6A77-8A88-C6645146A304}"/>
              </a:ext>
            </a:extLst>
          </p:cNvPr>
          <p:cNvCxnSpPr>
            <a:cxnSpLocks/>
            <a:stCxn id="3" idx="1"/>
          </p:cNvCxnSpPr>
          <p:nvPr/>
        </p:nvCxnSpPr>
        <p:spPr>
          <a:xfrm flipH="1">
            <a:off x="6001789" y="2731732"/>
            <a:ext cx="602696" cy="35299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B79BD2BB-0E03-8238-1074-D3C25B29CA97}"/>
              </a:ext>
            </a:extLst>
          </p:cNvPr>
          <p:cNvSpPr/>
          <p:nvPr/>
        </p:nvSpPr>
        <p:spPr>
          <a:xfrm>
            <a:off x="4709362" y="1632384"/>
            <a:ext cx="1153521" cy="140606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chemeClr val="tx1"/>
                </a:solidFill>
              </a:ln>
            </a:endParaRPr>
          </a:p>
        </p:txBody>
      </p:sp>
      <p:pic>
        <p:nvPicPr>
          <p:cNvPr id="40" name="Picture 39" descr="Introduction to Shiny">
            <a:extLst>
              <a:ext uri="{FF2B5EF4-FFF2-40B4-BE49-F238E27FC236}">
                <a16:creationId xmlns:a16="http://schemas.microsoft.com/office/drawing/2014/main" id="{FF027105-16BE-9317-2695-FA8B382F06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362" y="1615082"/>
            <a:ext cx="1153521" cy="11535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09707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4F2C1-0EC5-B16A-1DDB-FA093CB4F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04" name="Group 1103">
            <a:extLst>
              <a:ext uri="{FF2B5EF4-FFF2-40B4-BE49-F238E27FC236}">
                <a16:creationId xmlns:a16="http://schemas.microsoft.com/office/drawing/2014/main" id="{585AF89C-9B96-7392-8E68-F161668336CE}"/>
              </a:ext>
            </a:extLst>
          </p:cNvPr>
          <p:cNvGrpSpPr/>
          <p:nvPr/>
        </p:nvGrpSpPr>
        <p:grpSpPr>
          <a:xfrm>
            <a:off x="228600" y="533400"/>
            <a:ext cx="11849100" cy="5314950"/>
            <a:chOff x="228600" y="533400"/>
            <a:chExt cx="11849100" cy="5314950"/>
          </a:xfrm>
        </p:grpSpPr>
        <p:sp>
          <p:nvSpPr>
            <p:cNvPr id="1102" name="Rectangle 1101">
              <a:extLst>
                <a:ext uri="{FF2B5EF4-FFF2-40B4-BE49-F238E27FC236}">
                  <a16:creationId xmlns:a16="http://schemas.microsoft.com/office/drawing/2014/main" id="{91F7F9B5-9052-22CB-5CF6-91C751B826B2}"/>
                </a:ext>
              </a:extLst>
            </p:cNvPr>
            <p:cNvSpPr/>
            <p:nvPr/>
          </p:nvSpPr>
          <p:spPr>
            <a:xfrm>
              <a:off x="228600" y="533400"/>
              <a:ext cx="11849100" cy="53149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01" name="Group 1100">
              <a:extLst>
                <a:ext uri="{FF2B5EF4-FFF2-40B4-BE49-F238E27FC236}">
                  <a16:creationId xmlns:a16="http://schemas.microsoft.com/office/drawing/2014/main" id="{AD56D0E9-87C1-1C86-ACB1-E9001847C5C9}"/>
                </a:ext>
              </a:extLst>
            </p:cNvPr>
            <p:cNvGrpSpPr/>
            <p:nvPr/>
          </p:nvGrpSpPr>
          <p:grpSpPr>
            <a:xfrm>
              <a:off x="352023" y="695214"/>
              <a:ext cx="11611086" cy="5078879"/>
              <a:chOff x="352023" y="695214"/>
              <a:chExt cx="11611086" cy="5078879"/>
            </a:xfrm>
          </p:grpSpPr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4E1D1434-B146-82B1-E5D7-6B0E533377F7}"/>
                  </a:ext>
                </a:extLst>
              </p:cNvPr>
              <p:cNvGrpSpPr/>
              <p:nvPr/>
            </p:nvGrpSpPr>
            <p:grpSpPr>
              <a:xfrm>
                <a:off x="5113623" y="1268573"/>
                <a:ext cx="1153521" cy="1423367"/>
                <a:chOff x="4709362" y="1615082"/>
                <a:chExt cx="1153521" cy="1423367"/>
              </a:xfrm>
            </p:grpSpPr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9078154-89CA-F8A2-ABE1-B536D1FCE863}"/>
                    </a:ext>
                  </a:extLst>
                </p:cNvPr>
                <p:cNvSpPr txBox="1"/>
                <p:nvPr/>
              </p:nvSpPr>
              <p:spPr>
                <a:xfrm>
                  <a:off x="4795711" y="2648348"/>
                  <a:ext cx="980821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 err="1"/>
                    <a:t>app.R</a:t>
                  </a:r>
                  <a:endParaRPr lang="en-US" dirty="0"/>
                </a:p>
              </p:txBody>
            </p: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6AD16278-1D22-96AD-F6E3-FB9D20E40FDF}"/>
                    </a:ext>
                  </a:extLst>
                </p:cNvPr>
                <p:cNvSpPr/>
                <p:nvPr/>
              </p:nvSpPr>
              <p:spPr>
                <a:xfrm>
                  <a:off x="4709362" y="1632384"/>
                  <a:ext cx="1153521" cy="1406065"/>
                </a:xfrm>
                <a:prstGeom prst="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ln>
                      <a:solidFill>
                        <a:schemeClr val="tx1"/>
                      </a:solidFill>
                    </a:ln>
                  </a:endParaRPr>
                </a:p>
              </p:txBody>
            </p:sp>
            <p:pic>
              <p:nvPicPr>
                <p:cNvPr id="22" name="Picture 21" descr="Introduction to Shiny">
                  <a:extLst>
                    <a:ext uri="{FF2B5EF4-FFF2-40B4-BE49-F238E27FC236}">
                      <a16:creationId xmlns:a16="http://schemas.microsoft.com/office/drawing/2014/main" id="{D1540CB9-C5ED-6331-1C4A-DC8CDC44508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709362" y="1615082"/>
                  <a:ext cx="1153521" cy="1153521"/>
                </a:xfrm>
                <a:prstGeom prst="rect">
                  <a:avLst/>
                </a:prstGeom>
              </p:spPr>
            </p:pic>
          </p:grp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891321A-8C72-1231-F1E0-F801DE179B8D}"/>
                  </a:ext>
                </a:extLst>
              </p:cNvPr>
              <p:cNvSpPr txBox="1"/>
              <p:nvPr/>
            </p:nvSpPr>
            <p:spPr>
              <a:xfrm>
                <a:off x="352023" y="695214"/>
                <a:ext cx="1876658" cy="1323439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b="1" u="sng" dirty="0"/>
                  <a:t>Data Inputs</a:t>
                </a:r>
              </a:p>
              <a:p>
                <a:r>
                  <a:rPr lang="en-US" sz="1600" dirty="0" err="1"/>
                  <a:t>catch_data</a:t>
                </a:r>
                <a:endParaRPr lang="en-US" sz="1600" dirty="0"/>
              </a:p>
              <a:p>
                <a:r>
                  <a:rPr lang="en-US" sz="1600" dirty="0" err="1"/>
                  <a:t>visit_data</a:t>
                </a:r>
                <a:endParaRPr lang="en-US" sz="1600" dirty="0"/>
              </a:p>
              <a:p>
                <a:r>
                  <a:rPr lang="en-US" sz="1600" dirty="0" err="1"/>
                  <a:t>release_data</a:t>
                </a:r>
                <a:endParaRPr lang="en-US" sz="1600" dirty="0"/>
              </a:p>
              <a:p>
                <a:r>
                  <a:rPr lang="en-US" sz="1600" dirty="0" err="1"/>
                  <a:t>recapture_data</a:t>
                </a:r>
                <a:endParaRPr lang="en-US" sz="1600" dirty="0"/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0FC31D65-8838-FB62-0A9B-AFD6C31DF020}"/>
                  </a:ext>
                </a:extLst>
              </p:cNvPr>
              <p:cNvSpPr txBox="1"/>
              <p:nvPr/>
            </p:nvSpPr>
            <p:spPr>
              <a:xfrm>
                <a:off x="355909" y="2205782"/>
                <a:ext cx="1876659" cy="2308324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b="1" u="sng" dirty="0"/>
                  <a:t>User Inputs</a:t>
                </a:r>
              </a:p>
              <a:p>
                <a:r>
                  <a:rPr lang="en-US" sz="1600" dirty="0"/>
                  <a:t>summarize.by</a:t>
                </a:r>
              </a:p>
              <a:p>
                <a:r>
                  <a:rPr lang="en-US" sz="1600" dirty="0" err="1"/>
                  <a:t>impute_all</a:t>
                </a:r>
                <a:endParaRPr lang="en-US" sz="1600" dirty="0"/>
              </a:p>
              <a:p>
                <a:r>
                  <a:rPr lang="en-US" sz="1600" dirty="0" err="1"/>
                  <a:t>target_species</a:t>
                </a:r>
                <a:endParaRPr lang="en-US" sz="1600" dirty="0"/>
              </a:p>
              <a:p>
                <a:r>
                  <a:rPr lang="en-US" sz="1600" dirty="0" err="1"/>
                  <a:t>target_run</a:t>
                </a:r>
                <a:endParaRPr lang="en-US" sz="1600" dirty="0"/>
              </a:p>
              <a:p>
                <a:r>
                  <a:rPr lang="en-US" sz="1600" dirty="0" err="1"/>
                  <a:t>survey_start</a:t>
                </a:r>
                <a:endParaRPr lang="en-US" sz="1600" dirty="0"/>
              </a:p>
              <a:p>
                <a:r>
                  <a:rPr lang="en-US" sz="1600" dirty="0" err="1"/>
                  <a:t>survey_end</a:t>
                </a:r>
                <a:endParaRPr lang="en-US" sz="1600" dirty="0"/>
              </a:p>
              <a:p>
                <a:r>
                  <a:rPr lang="en-US" sz="1600" dirty="0" err="1"/>
                  <a:t>include_discharge</a:t>
                </a:r>
                <a:endParaRPr lang="en-US" sz="1600" dirty="0"/>
              </a:p>
              <a:p>
                <a:r>
                  <a:rPr lang="en-US" sz="1600" dirty="0" err="1"/>
                  <a:t>minimum_sample</a:t>
                </a:r>
                <a:endParaRPr lang="en-US" sz="1600" dirty="0"/>
              </a:p>
            </p:txBody>
          </p:sp>
          <p:sp>
            <p:nvSpPr>
              <p:cNvPr id="34" name="Right Bracket 33">
                <a:extLst>
                  <a:ext uri="{FF2B5EF4-FFF2-40B4-BE49-F238E27FC236}">
                    <a16:creationId xmlns:a16="http://schemas.microsoft.com/office/drawing/2014/main" id="{CD44C234-6053-1C03-E3D3-69FB623AF5A5}"/>
                  </a:ext>
                </a:extLst>
              </p:cNvPr>
              <p:cNvSpPr/>
              <p:nvPr/>
            </p:nvSpPr>
            <p:spPr>
              <a:xfrm>
                <a:off x="2415941" y="1285875"/>
                <a:ext cx="548640" cy="1890462"/>
              </a:xfrm>
              <a:prstGeom prst="rightBracket">
                <a:avLst/>
              </a:prstGeom>
              <a:ln w="571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E776BE59-30B6-4DF1-CE50-7DE455E7F23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64581" y="1730593"/>
                <a:ext cx="1905802" cy="0"/>
              </a:xfrm>
              <a:prstGeom prst="straightConnector1">
                <a:avLst/>
              </a:prstGeom>
              <a:ln w="76200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2C1437E-B742-E9C8-BCA0-BA61F7B2A918}"/>
                  </a:ext>
                </a:extLst>
              </p:cNvPr>
              <p:cNvSpPr txBox="1"/>
              <p:nvPr/>
            </p:nvSpPr>
            <p:spPr>
              <a:xfrm>
                <a:off x="3705345" y="3929563"/>
                <a:ext cx="1408278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 err="1"/>
                  <a:t>est_catch.R</a:t>
                </a:r>
                <a:endParaRPr lang="en-US" dirty="0"/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C0543913-C292-230B-9D28-3CD2F98AF766}"/>
                  </a:ext>
                </a:extLst>
              </p:cNvPr>
              <p:cNvSpPr txBox="1"/>
              <p:nvPr/>
            </p:nvSpPr>
            <p:spPr>
              <a:xfrm>
                <a:off x="3517756" y="5404761"/>
                <a:ext cx="1682216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 err="1"/>
                  <a:t>model_catch.R</a:t>
                </a:r>
                <a:endParaRPr lang="en-US" dirty="0"/>
              </a:p>
            </p:txBody>
          </p:sp>
          <p:cxnSp>
            <p:nvCxnSpPr>
              <p:cNvPr id="53" name="Straight Arrow Connector 52">
                <a:extLst>
                  <a:ext uri="{FF2B5EF4-FFF2-40B4-BE49-F238E27FC236}">
                    <a16:creationId xmlns:a16="http://schemas.microsoft.com/office/drawing/2014/main" id="{FF8198F3-5DAC-D97E-F35F-F05A085BBEC8}"/>
                  </a:ext>
                </a:extLst>
              </p:cNvPr>
              <p:cNvCxnSpPr>
                <a:cxnSpLocks/>
                <a:endCxn id="42" idx="0"/>
              </p:cNvCxnSpPr>
              <p:nvPr/>
            </p:nvCxnSpPr>
            <p:spPr>
              <a:xfrm>
                <a:off x="4409484" y="3074194"/>
                <a:ext cx="0" cy="855369"/>
              </a:xfrm>
              <a:prstGeom prst="straightConnector1">
                <a:avLst/>
              </a:prstGeom>
              <a:ln w="76200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Straight Arrow Connector 55">
                <a:extLst>
                  <a:ext uri="{FF2B5EF4-FFF2-40B4-BE49-F238E27FC236}">
                    <a16:creationId xmlns:a16="http://schemas.microsoft.com/office/drawing/2014/main" id="{F8A8E3F4-3B78-D977-03FE-2EAD200A6DC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409484" y="4446872"/>
                <a:ext cx="0" cy="827772"/>
              </a:xfrm>
              <a:prstGeom prst="straightConnector1">
                <a:avLst/>
              </a:prstGeom>
              <a:ln w="76200"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43C79789-6379-F4EA-AE29-8E5C3B142F4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94489" y="3111341"/>
                <a:ext cx="951788" cy="0"/>
              </a:xfrm>
              <a:prstGeom prst="line">
                <a:avLst/>
              </a:prstGeom>
              <a:ln w="762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4" name="Straight Connector 1023">
                <a:extLst>
                  <a:ext uri="{FF2B5EF4-FFF2-40B4-BE49-F238E27FC236}">
                    <a16:creationId xmlns:a16="http://schemas.microsoft.com/office/drawing/2014/main" id="{EEF83E2E-6748-41D2-DD5E-2A1F2CA843E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08177" y="2755900"/>
                <a:ext cx="0" cy="355441"/>
              </a:xfrm>
              <a:prstGeom prst="line">
                <a:avLst/>
              </a:prstGeom>
              <a:ln w="762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9" name="TextBox 1028">
                <a:extLst>
                  <a:ext uri="{FF2B5EF4-FFF2-40B4-BE49-F238E27FC236}">
                    <a16:creationId xmlns:a16="http://schemas.microsoft.com/office/drawing/2014/main" id="{58D830E4-2F3E-640A-9E33-DFEC92DC4DFC}"/>
                  </a:ext>
                </a:extLst>
              </p:cNvPr>
              <p:cNvSpPr txBox="1"/>
              <p:nvPr/>
            </p:nvSpPr>
            <p:spPr>
              <a:xfrm>
                <a:off x="6010275" y="3821841"/>
                <a:ext cx="1581147" cy="58477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 err="1"/>
                  <a:t>compare_efficiency_models.R</a:t>
                </a:r>
                <a:endParaRPr lang="en-US" sz="1600" dirty="0"/>
              </a:p>
            </p:txBody>
          </p:sp>
          <p:cxnSp>
            <p:nvCxnSpPr>
              <p:cNvPr id="1030" name="Straight Arrow Connector 1029">
                <a:extLst>
                  <a:ext uri="{FF2B5EF4-FFF2-40B4-BE49-F238E27FC236}">
                    <a16:creationId xmlns:a16="http://schemas.microsoft.com/office/drawing/2014/main" id="{20D19F54-445A-D650-09A7-994884301AC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878914" y="2721769"/>
                <a:ext cx="0" cy="428625"/>
              </a:xfrm>
              <a:prstGeom prst="straightConnector1">
                <a:avLst/>
              </a:prstGeom>
              <a:ln w="76200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3" name="Straight Connector 1032">
                <a:extLst>
                  <a:ext uri="{FF2B5EF4-FFF2-40B4-BE49-F238E27FC236}">
                    <a16:creationId xmlns:a16="http://schemas.microsoft.com/office/drawing/2014/main" id="{9D30B6AD-8C27-8DA5-A998-EE5FA9B9EB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42404" y="3111341"/>
                <a:ext cx="980365" cy="0"/>
              </a:xfrm>
              <a:prstGeom prst="line">
                <a:avLst/>
              </a:prstGeom>
              <a:ln w="762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0" name="Straight Arrow Connector 1039">
                <a:extLst>
                  <a:ext uri="{FF2B5EF4-FFF2-40B4-BE49-F238E27FC236}">
                    <a16:creationId xmlns:a16="http://schemas.microsoft.com/office/drawing/2014/main" id="{5C4DFB7E-FE22-E75A-D391-AAF4223096D9}"/>
                  </a:ext>
                </a:extLst>
              </p:cNvPr>
              <p:cNvCxnSpPr>
                <a:cxnSpLocks/>
                <a:stCxn id="42" idx="3"/>
                <a:endCxn id="1029" idx="1"/>
              </p:cNvCxnSpPr>
              <p:nvPr/>
            </p:nvCxnSpPr>
            <p:spPr>
              <a:xfrm>
                <a:off x="5113623" y="4114229"/>
                <a:ext cx="896652" cy="0"/>
              </a:xfrm>
              <a:prstGeom prst="straightConnector1">
                <a:avLst/>
              </a:prstGeom>
              <a:ln w="76200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3" name="Straight Connector 1042">
                <a:extLst>
                  <a:ext uri="{FF2B5EF4-FFF2-40B4-BE49-F238E27FC236}">
                    <a16:creationId xmlns:a16="http://schemas.microsoft.com/office/drawing/2014/main" id="{D1D797B8-8B65-6804-962D-9FDAC0275E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785346" y="3074194"/>
                <a:ext cx="0" cy="701248"/>
              </a:xfrm>
              <a:prstGeom prst="line">
                <a:avLst/>
              </a:prstGeom>
              <a:ln w="762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52" name="TextBox 1051">
                <a:extLst>
                  <a:ext uri="{FF2B5EF4-FFF2-40B4-BE49-F238E27FC236}">
                    <a16:creationId xmlns:a16="http://schemas.microsoft.com/office/drawing/2014/main" id="{22D5D55E-B9EA-0D0F-7434-0F377074FCD3}"/>
                  </a:ext>
                </a:extLst>
              </p:cNvPr>
              <p:cNvSpPr txBox="1"/>
              <p:nvPr/>
            </p:nvSpPr>
            <p:spPr>
              <a:xfrm>
                <a:off x="3147954" y="779490"/>
                <a:ext cx="137160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/>
                  <a:t>1)</a:t>
                </a:r>
                <a:r>
                  <a:rPr lang="en-US" sz="1600" dirty="0"/>
                  <a:t> Upload data and user inputs</a:t>
                </a:r>
              </a:p>
            </p:txBody>
          </p:sp>
          <p:sp>
            <p:nvSpPr>
              <p:cNvPr id="1054" name="TextBox 1053">
                <a:extLst>
                  <a:ext uri="{FF2B5EF4-FFF2-40B4-BE49-F238E27FC236}">
                    <a16:creationId xmlns:a16="http://schemas.microsoft.com/office/drawing/2014/main" id="{B1F5BFC9-F6F6-57B6-8CB8-67BD16A06DCB}"/>
                  </a:ext>
                </a:extLst>
              </p:cNvPr>
              <p:cNvSpPr txBox="1"/>
              <p:nvPr/>
            </p:nvSpPr>
            <p:spPr>
              <a:xfrm>
                <a:off x="5004582" y="3187541"/>
                <a:ext cx="1371600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/>
                  <a:t>2)</a:t>
                </a:r>
                <a:r>
                  <a:rPr lang="en-US" sz="1600" dirty="0"/>
                  <a:t> Run model comparison</a:t>
                </a:r>
              </a:p>
            </p:txBody>
          </p:sp>
          <p:sp>
            <p:nvSpPr>
              <p:cNvPr id="1057" name="TextBox 1056">
                <a:extLst>
                  <a:ext uri="{FF2B5EF4-FFF2-40B4-BE49-F238E27FC236}">
                    <a16:creationId xmlns:a16="http://schemas.microsoft.com/office/drawing/2014/main" id="{64959EFF-9617-B902-FA30-0DFBE2781486}"/>
                  </a:ext>
                </a:extLst>
              </p:cNvPr>
              <p:cNvSpPr txBox="1"/>
              <p:nvPr/>
            </p:nvSpPr>
            <p:spPr>
              <a:xfrm>
                <a:off x="6328002" y="898340"/>
                <a:ext cx="1371600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/>
                  <a:t>3)</a:t>
                </a:r>
                <a:r>
                  <a:rPr lang="en-US" sz="1600" dirty="0"/>
                  <a:t> Estimate passage</a:t>
                </a:r>
              </a:p>
            </p:txBody>
          </p:sp>
          <p:cxnSp>
            <p:nvCxnSpPr>
              <p:cNvPr id="1058" name="Straight Arrow Connector 1057">
                <a:extLst>
                  <a:ext uri="{FF2B5EF4-FFF2-40B4-BE49-F238E27FC236}">
                    <a16:creationId xmlns:a16="http://schemas.microsoft.com/office/drawing/2014/main" id="{2A036B99-8F78-FD13-AA00-6F0BACDB6DF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8002" y="1730593"/>
                <a:ext cx="1025298" cy="0"/>
              </a:xfrm>
              <a:prstGeom prst="straightConnector1">
                <a:avLst/>
              </a:prstGeom>
              <a:ln w="76200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66" name="TextBox 1065">
                <a:extLst>
                  <a:ext uri="{FF2B5EF4-FFF2-40B4-BE49-F238E27FC236}">
                    <a16:creationId xmlns:a16="http://schemas.microsoft.com/office/drawing/2014/main" id="{8642FE33-6F20-E84B-B47C-99CA1A0ECB45}"/>
                  </a:ext>
                </a:extLst>
              </p:cNvPr>
              <p:cNvSpPr txBox="1"/>
              <p:nvPr/>
            </p:nvSpPr>
            <p:spPr>
              <a:xfrm>
                <a:off x="7490358" y="1483115"/>
                <a:ext cx="1408278" cy="64633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 err="1"/>
                  <a:t>impute_efficiency.R</a:t>
                </a:r>
                <a:endParaRPr lang="en-US" dirty="0"/>
              </a:p>
            </p:txBody>
          </p:sp>
          <p:cxnSp>
            <p:nvCxnSpPr>
              <p:cNvPr id="1068" name="Straight Arrow Connector 1067">
                <a:extLst>
                  <a:ext uri="{FF2B5EF4-FFF2-40B4-BE49-F238E27FC236}">
                    <a16:creationId xmlns:a16="http://schemas.microsoft.com/office/drawing/2014/main" id="{CA582F1B-9236-D50B-9C02-43457DE6CE2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26069" y="2219566"/>
                <a:ext cx="0" cy="714054"/>
              </a:xfrm>
              <a:prstGeom prst="straightConnector1">
                <a:avLst/>
              </a:prstGeom>
              <a:ln w="76200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73" name="TextBox 1072">
                <a:extLst>
                  <a:ext uri="{FF2B5EF4-FFF2-40B4-BE49-F238E27FC236}">
                    <a16:creationId xmlns:a16="http://schemas.microsoft.com/office/drawing/2014/main" id="{7B4D53ED-E185-3656-4675-AD34A73B2100}"/>
                  </a:ext>
                </a:extLst>
              </p:cNvPr>
              <p:cNvSpPr txBox="1"/>
              <p:nvPr/>
            </p:nvSpPr>
            <p:spPr>
              <a:xfrm>
                <a:off x="7540826" y="3002875"/>
                <a:ext cx="1620382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 err="1"/>
                  <a:t>est_passage.R</a:t>
                </a:r>
                <a:endParaRPr lang="en-US" dirty="0"/>
              </a:p>
            </p:txBody>
          </p:sp>
          <p:cxnSp>
            <p:nvCxnSpPr>
              <p:cNvPr id="1082" name="Straight Arrow Connector 1081">
                <a:extLst>
                  <a:ext uri="{FF2B5EF4-FFF2-40B4-BE49-F238E27FC236}">
                    <a16:creationId xmlns:a16="http://schemas.microsoft.com/office/drawing/2014/main" id="{479D21A8-C3BD-DFC4-2DD1-1F5B82FDAA0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49755" y="3187541"/>
                <a:ext cx="620391" cy="0"/>
              </a:xfrm>
              <a:prstGeom prst="straightConnector1">
                <a:avLst/>
              </a:prstGeom>
              <a:ln w="76200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89" name="TextBox 1088">
                <a:extLst>
                  <a:ext uri="{FF2B5EF4-FFF2-40B4-BE49-F238E27FC236}">
                    <a16:creationId xmlns:a16="http://schemas.microsoft.com/office/drawing/2014/main" id="{6D029CA4-771B-3193-EFC2-628485414E41}"/>
                  </a:ext>
                </a:extLst>
              </p:cNvPr>
              <p:cNvSpPr txBox="1"/>
              <p:nvPr/>
            </p:nvSpPr>
            <p:spPr>
              <a:xfrm>
                <a:off x="7773702" y="4406616"/>
                <a:ext cx="1876659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 err="1"/>
                  <a:t>passage_boot.R</a:t>
                </a:r>
                <a:endParaRPr lang="en-US" dirty="0"/>
              </a:p>
            </p:txBody>
          </p:sp>
          <p:cxnSp>
            <p:nvCxnSpPr>
              <p:cNvPr id="1092" name="Straight Arrow Connector 1091">
                <a:extLst>
                  <a:ext uri="{FF2B5EF4-FFF2-40B4-BE49-F238E27FC236}">
                    <a16:creationId xmlns:a16="http://schemas.microsoft.com/office/drawing/2014/main" id="{B17AAB52-B54C-1100-148E-F63389E49DB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500472" y="3501878"/>
                <a:ext cx="0" cy="827751"/>
              </a:xfrm>
              <a:prstGeom prst="straightConnector1">
                <a:avLst/>
              </a:prstGeom>
              <a:ln w="76200"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00" name="TextBox 1099">
                <a:extLst>
                  <a:ext uri="{FF2B5EF4-FFF2-40B4-BE49-F238E27FC236}">
                    <a16:creationId xmlns:a16="http://schemas.microsoft.com/office/drawing/2014/main" id="{DB70BCD3-AB6C-64D0-4A1B-A23F983B79D0}"/>
                  </a:ext>
                </a:extLst>
              </p:cNvPr>
              <p:cNvSpPr txBox="1"/>
              <p:nvPr/>
            </p:nvSpPr>
            <p:spPr>
              <a:xfrm>
                <a:off x="10070258" y="2488674"/>
                <a:ext cx="1892851" cy="1323439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b="1" u="sng" dirty="0"/>
                  <a:t>Outputs</a:t>
                </a:r>
              </a:p>
              <a:p>
                <a:r>
                  <a:rPr lang="en-US" sz="1600" dirty="0" err="1"/>
                  <a:t>passage_estimates</a:t>
                </a:r>
                <a:endParaRPr lang="en-US" sz="1600" dirty="0"/>
              </a:p>
              <a:p>
                <a:r>
                  <a:rPr lang="en-US" sz="1600" dirty="0" err="1"/>
                  <a:t>efficiency_results</a:t>
                </a:r>
                <a:endParaRPr lang="en-US" sz="1600" dirty="0"/>
              </a:p>
              <a:p>
                <a:r>
                  <a:rPr lang="en-US" sz="1600" dirty="0" err="1"/>
                  <a:t>catch_results</a:t>
                </a:r>
                <a:endParaRPr lang="en-US" sz="1600" dirty="0"/>
              </a:p>
              <a:p>
                <a:r>
                  <a:rPr lang="en-US" sz="1600" dirty="0"/>
                  <a:t>summary plots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6603375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66EE1-8E10-B063-84C9-B4CC85FE3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693293FB-4131-EE23-96DE-4E0D8C73C0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>
                <a:solidFill>
                  <a:srgbClr val="1E718F"/>
                </a:solidFill>
                <a:latin typeface="Century Gothic" panose="020B0502020202020204" pitchFamily="34" charset="0"/>
              </a:rPr>
              <a:t>Catch model fitting (</a:t>
            </a:r>
            <a:r>
              <a:rPr lang="en-US" b="1" dirty="0" err="1">
                <a:solidFill>
                  <a:schemeClr val="accent4">
                    <a:lumMod val="75000"/>
                  </a:schemeClr>
                </a:solidFill>
              </a:rPr>
              <a:t>model_catch.R</a:t>
            </a:r>
            <a:r>
              <a:rPr lang="en-US" b="1" dirty="0">
                <a:solidFill>
                  <a:schemeClr val="accent4">
                    <a:lumMod val="75000"/>
                  </a:schemeClr>
                </a:solidFill>
              </a:rPr>
              <a:t>)</a:t>
            </a:r>
            <a:endParaRPr lang="en-US" b="1" dirty="0">
              <a:solidFill>
                <a:schemeClr val="accent4">
                  <a:lumMod val="75000"/>
                </a:schemeClr>
              </a:solidFill>
              <a:latin typeface="Century Gothic" panose="020B0502020202020204" pitchFamily="34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B02F526-F09E-BF81-A363-289D48BF02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81000" y="1112799"/>
            <a:ext cx="11811000" cy="0"/>
          </a:xfrm>
          <a:prstGeom prst="line">
            <a:avLst/>
          </a:prstGeom>
          <a:ln>
            <a:solidFill>
              <a:srgbClr val="1E718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8">
                <a:extLst>
                  <a:ext uri="{FF2B5EF4-FFF2-40B4-BE49-F238E27FC236}">
                    <a16:creationId xmlns:a16="http://schemas.microsoft.com/office/drawing/2014/main" id="{BDE56F28-41C2-1749-9964-FF799344D4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80997" y="1405289"/>
                <a:ext cx="11515827" cy="4995508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457200" lvl="1" indent="0">
                  <a:buNone/>
                </a:pPr>
                <a:r>
                  <a:rPr lang="en-US" sz="3200" dirty="0"/>
                  <a:t>For periods missing catch data, impute using </a:t>
                </a:r>
                <a:r>
                  <a:rPr lang="en-US" sz="3200" dirty="0" err="1"/>
                  <a:t>model_catch</a:t>
                </a:r>
                <a:r>
                  <a:rPr lang="en-US" sz="3200" dirty="0"/>
                  <a:t>().</a:t>
                </a:r>
                <a:endParaRPr lang="en-US" sz="2800" dirty="0"/>
              </a:p>
              <a:p>
                <a:pPr marL="457200" lvl="1" indent="0">
                  <a:buNone/>
                </a:pPr>
                <a:endParaRPr lang="en-US" sz="2800" dirty="0"/>
              </a:p>
              <a:p>
                <a:pPr marL="457200" lvl="1" indent="0">
                  <a:buNone/>
                </a:pPr>
                <a:r>
                  <a:rPr lang="en-US" sz="2800" dirty="0"/>
                  <a:t>Catch at trapping survey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800"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800" dirty="0"/>
                  <a:t>), given the date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/>
                  <a:t>, follows a Poisson distribution with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800" dirty="0"/>
                  <a:t>.</a:t>
                </a:r>
              </a:p>
              <a:p>
                <a:pPr lvl="1"/>
                <a:endParaRPr lang="en-US" sz="2800" dirty="0"/>
              </a:p>
              <a:p>
                <a:pPr marL="914400" lvl="2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 lang="en-US" sz="2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600" b="0" i="1" smtClean="0">
                          <a:latin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en-US" sz="2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600" b="0" i="1" smtClean="0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en-US" sz="2600" b="0" i="1" smtClean="0">
                          <a:latin typeface="Cambria Math" panose="02040503050406030204" pitchFamily="18" charset="0"/>
                        </a:rPr>
                        <m:t>𝑃𝑜𝑖𝑠𝑠𝑜𝑛</m:t>
                      </m:r>
                      <m:r>
                        <a:rPr lang="en-US" sz="26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6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  <a:p>
                <a:pPr marL="914400" lvl="2" indent="0">
                  <a:buNone/>
                </a:pPr>
                <a:r>
                  <a:rPr lang="en-US" sz="2800" dirty="0"/>
                  <a:t>Where:</a:t>
                </a:r>
              </a:p>
              <a:p>
                <a:pPr marL="914400" lvl="2" indent="0">
                  <a:buNone/>
                </a:pPr>
                <a:endParaRPr lang="en-US" sz="2800" dirty="0"/>
              </a:p>
              <a:p>
                <a:pPr marL="914400" lvl="2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unc>
                        <m:funcPr>
                          <m:ctrlPr>
                            <a:rPr lang="en-US" sz="2800" b="0" i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800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</a:rPr>
                        <m:t>log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⁡(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" name="Content Placeholder 8">
                <a:extLst>
                  <a:ext uri="{FF2B5EF4-FFF2-40B4-BE49-F238E27FC236}">
                    <a16:creationId xmlns:a16="http://schemas.microsoft.com/office/drawing/2014/main" id="{BDE56F28-41C2-1749-9964-FF799344D4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0997" y="1405289"/>
                <a:ext cx="11515827" cy="4995508"/>
              </a:xfrm>
              <a:blipFill>
                <a:blip r:embed="rId3"/>
                <a:stretch>
                  <a:fillRect t="-24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BC119843-7319-6C97-F8AE-86958646E3FE}"/>
              </a:ext>
            </a:extLst>
          </p:cNvPr>
          <p:cNvSpPr txBox="1"/>
          <p:nvPr/>
        </p:nvSpPr>
        <p:spPr>
          <a:xfrm>
            <a:off x="7882128" y="5912307"/>
            <a:ext cx="32186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Offset based on hours sampled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19A7E1F-9FD5-DF79-C210-AB82262BA399}"/>
              </a:ext>
            </a:extLst>
          </p:cNvPr>
          <p:cNvCxnSpPr>
            <a:cxnSpLocks/>
            <a:stCxn id="3" idx="0"/>
          </p:cNvCxnSpPr>
          <p:nvPr/>
        </p:nvCxnSpPr>
        <p:spPr>
          <a:xfrm flipH="1" flipV="1">
            <a:off x="7973634" y="5230761"/>
            <a:ext cx="1517838" cy="6815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60ED7DD-CEAC-76B6-8526-583B355F5FC2}"/>
              </a:ext>
            </a:extLst>
          </p:cNvPr>
          <p:cNvSpPr txBox="1"/>
          <p:nvPr/>
        </p:nvSpPr>
        <p:spPr>
          <a:xfrm>
            <a:off x="4028976" y="5912307"/>
            <a:ext cx="30571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Smoother function of date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0F71E65-C37E-31A5-7B70-59AFB43AA5C1}"/>
              </a:ext>
            </a:extLst>
          </p:cNvPr>
          <p:cNvCxnSpPr>
            <a:cxnSpLocks/>
            <a:stCxn id="11" idx="0"/>
          </p:cNvCxnSpPr>
          <p:nvPr/>
        </p:nvCxnSpPr>
        <p:spPr>
          <a:xfrm flipV="1">
            <a:off x="5557548" y="5305916"/>
            <a:ext cx="641604" cy="6063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51258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E122AE-237B-F23A-4089-D2082E2360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68FE73C8-F232-B197-CABD-3C8757F826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>
                <a:solidFill>
                  <a:srgbClr val="1E718F"/>
                </a:solidFill>
                <a:latin typeface="Century Gothic" panose="020B0502020202020204" pitchFamily="34" charset="0"/>
              </a:rPr>
              <a:t>Catch model fitting (</a:t>
            </a:r>
            <a:r>
              <a:rPr lang="en-US" b="1" dirty="0" err="1">
                <a:solidFill>
                  <a:schemeClr val="accent4">
                    <a:lumMod val="75000"/>
                  </a:schemeClr>
                </a:solidFill>
              </a:rPr>
              <a:t>model_catch.R</a:t>
            </a:r>
            <a:r>
              <a:rPr lang="en-US" b="1" dirty="0">
                <a:solidFill>
                  <a:schemeClr val="accent4">
                    <a:lumMod val="75000"/>
                  </a:schemeClr>
                </a:solidFill>
              </a:rPr>
              <a:t>)</a:t>
            </a:r>
            <a:endParaRPr lang="en-US" b="1" dirty="0">
              <a:solidFill>
                <a:schemeClr val="accent4">
                  <a:lumMod val="75000"/>
                </a:schemeClr>
              </a:solidFill>
              <a:latin typeface="Century Gothic" panose="020B0502020202020204" pitchFamily="34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76C09A1-6127-C924-AE03-A63447D6B0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81000" y="1112799"/>
            <a:ext cx="11811000" cy="0"/>
          </a:xfrm>
          <a:prstGeom prst="line">
            <a:avLst/>
          </a:prstGeom>
          <a:ln>
            <a:solidFill>
              <a:srgbClr val="1E718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8">
                <a:extLst>
                  <a:ext uri="{FF2B5EF4-FFF2-40B4-BE49-F238E27FC236}">
                    <a16:creationId xmlns:a16="http://schemas.microsoft.com/office/drawing/2014/main" id="{3039CDB3-4F96-41EF-2DA1-4173700051A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80997" y="1405289"/>
                <a:ext cx="11515827" cy="4995508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3200" b="1" dirty="0"/>
                  <a:t>For each trap run a loop:</a:t>
                </a:r>
              </a:p>
              <a:p>
                <a:endParaRPr lang="en-US" sz="3200" b="1" dirty="0"/>
              </a:p>
              <a:p>
                <a:pPr lvl="1"/>
                <a:r>
                  <a:rPr lang="en-US" sz="2800" dirty="0"/>
                  <a:t>Start with a null model, if enough catch data model with date.</a:t>
                </a:r>
              </a:p>
              <a:p>
                <a:pPr lvl="1"/>
                <a:endParaRPr lang="en-US" sz="2800" dirty="0"/>
              </a:p>
              <a:p>
                <a:pPr lvl="1"/>
                <a:r>
                  <a:rPr lang="en-US" sz="2800" dirty="0"/>
                  <a:t>Increases spline “knots” of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800" dirty="0"/>
                  <a:t> and compares AIC until best model fit found.</a:t>
                </a:r>
              </a:p>
              <a:p>
                <a:pPr lvl="1"/>
                <a:endParaRPr lang="en-US" sz="2800" dirty="0"/>
              </a:p>
              <a:p>
                <a:pPr lvl="1"/>
                <a:r>
                  <a:rPr lang="en-US" sz="2800" dirty="0"/>
                  <a:t>Impute missing catch data using the model with best fit.</a:t>
                </a:r>
              </a:p>
            </p:txBody>
          </p:sp>
        </mc:Choice>
        <mc:Fallback xmlns="">
          <p:sp>
            <p:nvSpPr>
              <p:cNvPr id="2" name="Content Placeholder 8">
                <a:extLst>
                  <a:ext uri="{FF2B5EF4-FFF2-40B4-BE49-F238E27FC236}">
                    <a16:creationId xmlns:a16="http://schemas.microsoft.com/office/drawing/2014/main" id="{3039CDB3-4F96-41EF-2DA1-4173700051A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0997" y="1405289"/>
                <a:ext cx="11515827" cy="4995508"/>
              </a:xfrm>
              <a:blipFill>
                <a:blip r:embed="rId3"/>
                <a:stretch>
                  <a:fillRect l="-1164" t="-2442" r="-1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094063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2E1FF-1E4C-8B13-1CAE-A103F2B308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Chart, scatter chart&#10;&#10;AI-generated content may be incorrect.">
            <a:extLst>
              <a:ext uri="{FF2B5EF4-FFF2-40B4-BE49-F238E27FC236}">
                <a16:creationId xmlns:a16="http://schemas.microsoft.com/office/drawing/2014/main" id="{03580590-E49E-71F9-DE4F-5614C51717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3990" y="685794"/>
            <a:ext cx="9144019" cy="5486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73945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C9374-A44F-B8EA-774E-C1851D929C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314C5088-BC09-1E6F-80CD-9048A15E0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1E718F"/>
                </a:solidFill>
                <a:latin typeface="Century Gothic" panose="020B0502020202020204" pitchFamily="34" charset="0"/>
              </a:rPr>
              <a:t>Efficiency model fitting (</a:t>
            </a:r>
            <a:r>
              <a:rPr lang="en-US" b="1" dirty="0" err="1">
                <a:solidFill>
                  <a:srgbClr val="1E718F"/>
                </a:solidFill>
                <a:latin typeface="Century Gothic" panose="020B0502020202020204" pitchFamily="34" charset="0"/>
              </a:rPr>
              <a:t>model_efficiency.R</a:t>
            </a:r>
            <a:r>
              <a:rPr lang="en-US" b="1" dirty="0">
                <a:solidFill>
                  <a:srgbClr val="1E718F"/>
                </a:solidFill>
                <a:latin typeface="Century Gothic" panose="020B0502020202020204" pitchFamily="34" charset="0"/>
              </a:rPr>
              <a:t>)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A0ED1A3-B8E8-C6F2-CAE9-8F57AB91CA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81000" y="1112799"/>
            <a:ext cx="11811000" cy="0"/>
          </a:xfrm>
          <a:prstGeom prst="line">
            <a:avLst/>
          </a:prstGeom>
          <a:ln>
            <a:solidFill>
              <a:srgbClr val="1E718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8">
                <a:extLst>
                  <a:ext uri="{FF2B5EF4-FFF2-40B4-BE49-F238E27FC236}">
                    <a16:creationId xmlns:a16="http://schemas.microsoft.com/office/drawing/2014/main" id="{9F8943F2-2C1C-4778-2DFD-A8D35B5D9CB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80997" y="1405289"/>
                <a:ext cx="11515827" cy="4995508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457200" lvl="1" indent="0">
                  <a:buNone/>
                </a:pPr>
                <a:r>
                  <a:rPr lang="en-US" sz="2800" dirty="0"/>
                  <a:t>If too few efficiency trials (&lt;10) uses Ratio of Means +1 to assume constant efficiency over survey period.</a:t>
                </a:r>
              </a:p>
              <a:p>
                <a:pPr lvl="1"/>
                <a:endParaRPr lang="en-US" sz="2800" dirty="0"/>
              </a:p>
              <a:p>
                <a:pPr marL="457200" lvl="1" indent="0">
                  <a:buNone/>
                </a:pPr>
                <a:r>
                  <a:rPr lang="en-US" sz="2800" dirty="0"/>
                  <a:t>Otherwise, probability of recapturing a released fish is modeled as a smooth function of date:</a:t>
                </a:r>
              </a:p>
              <a:p>
                <a:pPr marL="457200" lvl="1" indent="0">
                  <a:buNone/>
                </a:pPr>
                <a:endParaRPr lang="en-US" sz="280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𝑅𝑒𝑐𝑎𝑝𝑡𝑢𝑟𝑒𝑠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800" i="1">
                          <a:latin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800" i="1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𝐵𝑖𝑛𝑜𝑚𝑖𝑎𝑙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𝑟𝑒𝑙𝑒𝑎𝑠𝑒𝑑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8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  <a:p>
                <a:pPr marL="457200" lvl="1" indent="0">
                  <a:buNone/>
                </a:pPr>
                <a:r>
                  <a:rPr lang="en-US" sz="2800" dirty="0"/>
                  <a:t>Where:</a:t>
                </a:r>
              </a:p>
              <a:p>
                <a:pPr marL="457200" lvl="1" indent="0">
                  <a:buNone/>
                </a:pPr>
                <a:endParaRPr lang="en-US" sz="280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𝑙𝑜𝑔𝑖𝑡</m:t>
                          </m:r>
                        </m:fName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sz="2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8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800" dirty="0"/>
              </a:p>
              <a:p>
                <a:pPr lvl="1"/>
                <a:endParaRPr lang="en-US" sz="2800" dirty="0"/>
              </a:p>
              <a:p>
                <a:pPr marL="457200" lvl="1" indent="0">
                  <a:buNone/>
                </a:pPr>
                <a:endParaRPr lang="en-US" sz="2800" dirty="0"/>
              </a:p>
            </p:txBody>
          </p:sp>
        </mc:Choice>
        <mc:Fallback xmlns="">
          <p:sp>
            <p:nvSpPr>
              <p:cNvPr id="2" name="Content Placeholder 8">
                <a:extLst>
                  <a:ext uri="{FF2B5EF4-FFF2-40B4-BE49-F238E27FC236}">
                    <a16:creationId xmlns:a16="http://schemas.microsoft.com/office/drawing/2014/main" id="{9F8943F2-2C1C-4778-2DFD-A8D35B5D9CB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0997" y="1405289"/>
                <a:ext cx="11515827" cy="4995508"/>
              </a:xfrm>
              <a:blipFill>
                <a:blip r:embed="rId3"/>
                <a:stretch>
                  <a:fillRect t="-21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547005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C2FE70-CEBF-7C35-02C2-0ED89A959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F420543-3A73-E8EB-875F-3F218708F9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1E718F"/>
                </a:solidFill>
                <a:latin typeface="Century Gothic" panose="020B0502020202020204" pitchFamily="34" charset="0"/>
              </a:rPr>
              <a:t>Efficiency model fitting (</a:t>
            </a:r>
            <a:r>
              <a:rPr lang="en-US" b="1" dirty="0" err="1">
                <a:solidFill>
                  <a:srgbClr val="1E718F"/>
                </a:solidFill>
                <a:latin typeface="Century Gothic" panose="020B0502020202020204" pitchFamily="34" charset="0"/>
              </a:rPr>
              <a:t>model_efficiency.R</a:t>
            </a:r>
            <a:r>
              <a:rPr lang="en-US" b="1" dirty="0">
                <a:solidFill>
                  <a:srgbClr val="1E718F"/>
                </a:solidFill>
                <a:latin typeface="Century Gothic" panose="020B0502020202020204" pitchFamily="34" charset="0"/>
              </a:rPr>
              <a:t>)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5B19D9D-B59D-AFC4-F55D-0B39B2C9BA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81000" y="1112799"/>
            <a:ext cx="11811000" cy="0"/>
          </a:xfrm>
          <a:prstGeom prst="line">
            <a:avLst/>
          </a:prstGeom>
          <a:ln>
            <a:solidFill>
              <a:srgbClr val="1E718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8">
                <a:extLst>
                  <a:ext uri="{FF2B5EF4-FFF2-40B4-BE49-F238E27FC236}">
                    <a16:creationId xmlns:a16="http://schemas.microsoft.com/office/drawing/2014/main" id="{F3FAA9F9-E14E-7A6E-BD8E-FC0609D6468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80997" y="1405289"/>
                <a:ext cx="11515827" cy="4995508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3200" b="1" dirty="0"/>
                  <a:t>For each trap run a loop:</a:t>
                </a:r>
              </a:p>
              <a:p>
                <a:endParaRPr lang="en-US" sz="2800" dirty="0"/>
              </a:p>
              <a:p>
                <a:pPr lvl="1"/>
                <a:r>
                  <a:rPr lang="en-US" sz="2800" dirty="0"/>
                  <a:t>Start with a null model.</a:t>
                </a:r>
              </a:p>
              <a:p>
                <a:pPr lvl="1"/>
                <a:endParaRPr lang="en-US" sz="2800" dirty="0"/>
              </a:p>
              <a:p>
                <a:pPr lvl="1"/>
                <a:r>
                  <a:rPr lang="en-US" sz="2800" dirty="0"/>
                  <a:t>Increases spline “knots” of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800" dirty="0"/>
                  <a:t> and compares AIC until best model fit found.</a:t>
                </a:r>
              </a:p>
              <a:p>
                <a:pPr lvl="1"/>
                <a:endParaRPr lang="en-US" sz="2800" dirty="0"/>
              </a:p>
              <a:p>
                <a:pPr lvl="1"/>
                <a:r>
                  <a:rPr lang="en-US" sz="2800" dirty="0"/>
                  <a:t>Impute missing efficiency data using model with best fit.</a:t>
                </a:r>
              </a:p>
            </p:txBody>
          </p:sp>
        </mc:Choice>
        <mc:Fallback xmlns="">
          <p:sp>
            <p:nvSpPr>
              <p:cNvPr id="2" name="Content Placeholder 8">
                <a:extLst>
                  <a:ext uri="{FF2B5EF4-FFF2-40B4-BE49-F238E27FC236}">
                    <a16:creationId xmlns:a16="http://schemas.microsoft.com/office/drawing/2014/main" id="{F3FAA9F9-E14E-7A6E-BD8E-FC0609D6468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0997" y="1405289"/>
                <a:ext cx="11515827" cy="4995508"/>
              </a:xfrm>
              <a:blipFill>
                <a:blip r:embed="rId3"/>
                <a:stretch>
                  <a:fillRect l="-1164" t="-2442" r="-1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017719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ED4FEC-B845-373E-5AC5-540151E30B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Chart, line chart&#10;&#10;AI-generated content may be incorrect.">
            <a:extLst>
              <a:ext uri="{FF2B5EF4-FFF2-40B4-BE49-F238E27FC236}">
                <a16:creationId xmlns:a16="http://schemas.microsoft.com/office/drawing/2014/main" id="{CB9C8754-2BC3-E313-3577-092B7F625A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3990" y="685794"/>
            <a:ext cx="9144019" cy="5486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05124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E9724A-A679-63F6-B34C-C46EB026F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29CD0B1F-CBA9-9A0D-03E1-6716D4D7234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80998" y="1330324"/>
                <a:ext cx="11620504" cy="4829175"/>
              </a:xfrm>
            </p:spPr>
            <p:txBody>
              <a:bodyPr>
                <a:normAutofit/>
              </a:bodyPr>
              <a:lstStyle/>
              <a:p>
                <a:r>
                  <a:rPr lang="en-US" dirty="0">
                    <a:solidFill>
                      <a:schemeClr val="accent1"/>
                    </a:solidFill>
                  </a:rPr>
                  <a:t>Runs </a:t>
                </a:r>
                <a:r>
                  <a:rPr lang="en-US" dirty="0" err="1">
                    <a:solidFill>
                      <a:schemeClr val="accent1"/>
                    </a:solidFill>
                  </a:rPr>
                  <a:t>est_catch</a:t>
                </a:r>
                <a:r>
                  <a:rPr lang="en-US" dirty="0">
                    <a:solidFill>
                      <a:schemeClr val="accent1"/>
                    </a:solidFill>
                  </a:rPr>
                  <a:t>() for available catch data and imputes missing values.</a:t>
                </a:r>
              </a:p>
              <a:p>
                <a:r>
                  <a:rPr lang="en-US" dirty="0">
                    <a:solidFill>
                      <a:schemeClr val="accent1"/>
                    </a:solidFill>
                  </a:rPr>
                  <a:t>Runs </a:t>
                </a:r>
                <a:r>
                  <a:rPr lang="en-US" dirty="0" err="1">
                    <a:solidFill>
                      <a:schemeClr val="accent1"/>
                    </a:solidFill>
                  </a:rPr>
                  <a:t>est_efficiency</a:t>
                </a:r>
                <a:r>
                  <a:rPr lang="en-US" dirty="0">
                    <a:solidFill>
                      <a:schemeClr val="accent1"/>
                    </a:solidFill>
                  </a:rPr>
                  <a:t> for available trial data and imputes for missing periods.</a:t>
                </a:r>
              </a:p>
              <a:p>
                <a:r>
                  <a:rPr lang="en-US" dirty="0">
                    <a:solidFill>
                      <a:schemeClr val="accent1"/>
                    </a:solidFill>
                  </a:rPr>
                  <a:t>Estimates passage as: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</m:acc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3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sz="320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acc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2800" dirty="0"/>
                  <a:t> = estimated total passage for sampling period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280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2800" dirty="0"/>
                  <a:t> = total catch for sampling period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280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acc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2800" dirty="0"/>
                  <a:t> = estimated trap efficiency for sampling period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2800" dirty="0"/>
              </a:p>
              <a:p>
                <a:endParaRPr lang="en-US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29CD0B1F-CBA9-9A0D-03E1-6716D4D723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0998" y="1330324"/>
                <a:ext cx="11620504" cy="4829175"/>
              </a:xfrm>
              <a:blipFill>
                <a:blip r:embed="rId2"/>
                <a:stretch>
                  <a:fillRect l="-891" t="-21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7">
            <a:extLst>
              <a:ext uri="{FF2B5EF4-FFF2-40B4-BE49-F238E27FC236}">
                <a16:creationId xmlns:a16="http://schemas.microsoft.com/office/drawing/2014/main" id="{BF0AAA57-A2CD-C4DD-AABC-6DA093B31C9E}"/>
              </a:ext>
            </a:extLst>
          </p:cNvPr>
          <p:cNvSpPr txBox="1">
            <a:spLocks/>
          </p:cNvSpPr>
          <p:nvPr/>
        </p:nvSpPr>
        <p:spPr>
          <a:xfrm>
            <a:off x="380998" y="437908"/>
            <a:ext cx="11421291" cy="7604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>
                <a:solidFill>
                  <a:srgbClr val="1E718F"/>
                </a:solidFill>
                <a:latin typeface="Century Gothic" panose="020B0502020202020204" pitchFamily="34" charset="0"/>
              </a:rPr>
              <a:t>Estimating Passage (</a:t>
            </a:r>
            <a:r>
              <a:rPr lang="en-US" b="1" dirty="0" err="1">
                <a:solidFill>
                  <a:srgbClr val="1E718F"/>
                </a:solidFill>
                <a:latin typeface="Century Gothic" panose="020B0502020202020204" pitchFamily="34" charset="0"/>
              </a:rPr>
              <a:t>est_passage.R</a:t>
            </a:r>
            <a:r>
              <a:rPr lang="en-US" b="1" dirty="0">
                <a:solidFill>
                  <a:srgbClr val="1E718F"/>
                </a:solidFill>
                <a:latin typeface="Century Gothic" panose="020B0502020202020204" pitchFamily="34" charset="0"/>
              </a:rPr>
              <a:t>)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D3CA1D6-29FD-3D48-521E-3C3BCE9022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81000" y="1112799"/>
            <a:ext cx="11811000" cy="0"/>
          </a:xfrm>
          <a:prstGeom prst="line">
            <a:avLst/>
          </a:prstGeom>
          <a:ln>
            <a:solidFill>
              <a:srgbClr val="1E718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DE9287AA-F4CE-237C-E97F-F2F5717A8B5F}"/>
              </a:ext>
            </a:extLst>
          </p:cNvPr>
          <p:cNvSpPr txBox="1">
            <a:spLocks/>
          </p:cNvSpPr>
          <p:nvPr/>
        </p:nvSpPr>
        <p:spPr>
          <a:xfrm>
            <a:off x="6286500" y="1330324"/>
            <a:ext cx="5715002" cy="48291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29648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5DDBE0-0027-BFED-9949-EC75A5043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325163E-9C2A-92B6-81D9-57865DE9F0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0998" y="1330324"/>
            <a:ext cx="11620504" cy="4829175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Summarizes passage data by user input (sum.by).</a:t>
            </a:r>
          </a:p>
          <a:p>
            <a:endParaRPr lang="en-US" dirty="0">
              <a:solidFill>
                <a:schemeClr val="accent1"/>
              </a:solidFill>
            </a:endParaRPr>
          </a:p>
          <a:p>
            <a:r>
              <a:rPr lang="en-US" sz="2800" dirty="0">
                <a:solidFill>
                  <a:schemeClr val="accent1"/>
                </a:solidFill>
              </a:rPr>
              <a:t>Generates random imputations of catch and efficiency using the overdispersion metrics of catch model and efficiency model fits.</a:t>
            </a:r>
          </a:p>
          <a:p>
            <a:endParaRPr lang="en-US" dirty="0">
              <a:solidFill>
                <a:schemeClr val="accent1"/>
              </a:solidFill>
            </a:endParaRPr>
          </a:p>
          <a:p>
            <a:r>
              <a:rPr lang="en-US" sz="2800" dirty="0">
                <a:solidFill>
                  <a:schemeClr val="accent1"/>
                </a:solidFill>
              </a:rPr>
              <a:t>Returns estimates of passage aggregated across traps, with lower and upper CI and the percent of catch imputed per time period.</a:t>
            </a:r>
            <a:endParaRPr lang="en-US" sz="2800" dirty="0"/>
          </a:p>
          <a:p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6" name="Title 7">
            <a:extLst>
              <a:ext uri="{FF2B5EF4-FFF2-40B4-BE49-F238E27FC236}">
                <a16:creationId xmlns:a16="http://schemas.microsoft.com/office/drawing/2014/main" id="{2CE0A3F0-A330-09DD-CD92-BAA17E911840}"/>
              </a:ext>
            </a:extLst>
          </p:cNvPr>
          <p:cNvSpPr txBox="1">
            <a:spLocks/>
          </p:cNvSpPr>
          <p:nvPr/>
        </p:nvSpPr>
        <p:spPr>
          <a:xfrm>
            <a:off x="380998" y="437908"/>
            <a:ext cx="11421291" cy="7604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>
                <a:solidFill>
                  <a:srgbClr val="1E718F"/>
                </a:solidFill>
                <a:latin typeface="Century Gothic" panose="020B0502020202020204" pitchFamily="34" charset="0"/>
              </a:rPr>
              <a:t>Estimating Passage uncertainty (</a:t>
            </a:r>
            <a:r>
              <a:rPr lang="en-US" b="1" dirty="0" err="1">
                <a:solidFill>
                  <a:srgbClr val="1E718F"/>
                </a:solidFill>
                <a:latin typeface="Century Gothic" panose="020B0502020202020204" pitchFamily="34" charset="0"/>
              </a:rPr>
              <a:t>passage_boot.R</a:t>
            </a:r>
            <a:r>
              <a:rPr lang="en-US" b="1" dirty="0">
                <a:solidFill>
                  <a:srgbClr val="1E718F"/>
                </a:solidFill>
                <a:latin typeface="Century Gothic" panose="020B0502020202020204" pitchFamily="34" charset="0"/>
              </a:rPr>
              <a:t>)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881725C-7013-FAC8-E3B5-2D4D7B3C0B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81000" y="1112799"/>
            <a:ext cx="11811000" cy="0"/>
          </a:xfrm>
          <a:prstGeom prst="line">
            <a:avLst/>
          </a:prstGeom>
          <a:ln>
            <a:solidFill>
              <a:srgbClr val="1E718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EB2C4933-8D88-C378-6843-F357EC386FED}"/>
              </a:ext>
            </a:extLst>
          </p:cNvPr>
          <p:cNvSpPr txBox="1">
            <a:spLocks/>
          </p:cNvSpPr>
          <p:nvPr/>
        </p:nvSpPr>
        <p:spPr>
          <a:xfrm>
            <a:off x="6286500" y="1330324"/>
            <a:ext cx="5715002" cy="48291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19094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1C511A-980D-A243-1A4F-8FE38E2751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9118CA4-2C4F-EAF3-B22E-58AA6AD1AB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0998" y="1330324"/>
            <a:ext cx="11620504" cy="4829175"/>
          </a:xfrm>
        </p:spPr>
        <p:txBody>
          <a:bodyPr>
            <a:normAutofit/>
          </a:bodyPr>
          <a:lstStyle/>
          <a:p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6" name="Title 7">
            <a:extLst>
              <a:ext uri="{FF2B5EF4-FFF2-40B4-BE49-F238E27FC236}">
                <a16:creationId xmlns:a16="http://schemas.microsoft.com/office/drawing/2014/main" id="{B87CBC21-DF3D-FC6B-5559-C34BBB93DDAD}"/>
              </a:ext>
            </a:extLst>
          </p:cNvPr>
          <p:cNvSpPr txBox="1">
            <a:spLocks/>
          </p:cNvSpPr>
          <p:nvPr/>
        </p:nvSpPr>
        <p:spPr>
          <a:xfrm>
            <a:off x="380998" y="437908"/>
            <a:ext cx="11421291" cy="7604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>
                <a:solidFill>
                  <a:srgbClr val="1E718F"/>
                </a:solidFill>
                <a:latin typeface="Century Gothic" panose="020B0502020202020204" pitchFamily="34" charset="0"/>
              </a:rPr>
              <a:t>Estimating Passage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3100DD9-9D6D-82CC-4B8D-6535CDEF9F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81000" y="1112799"/>
            <a:ext cx="11811000" cy="0"/>
          </a:xfrm>
          <a:prstGeom prst="line">
            <a:avLst/>
          </a:prstGeom>
          <a:ln>
            <a:solidFill>
              <a:srgbClr val="1E718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D6BDC7EC-0156-17F0-1781-B06AE547E247}"/>
              </a:ext>
            </a:extLst>
          </p:cNvPr>
          <p:cNvSpPr txBox="1">
            <a:spLocks/>
          </p:cNvSpPr>
          <p:nvPr/>
        </p:nvSpPr>
        <p:spPr>
          <a:xfrm>
            <a:off x="6286500" y="1330324"/>
            <a:ext cx="5715002" cy="48291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C1A54F3-F77E-DD16-7B5C-310EB86D51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9633" y="1198320"/>
            <a:ext cx="9144019" cy="5486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36069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8825D07-12F1-01C4-54A1-A08D2196C7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29" y="1262254"/>
            <a:ext cx="12132541" cy="5486018"/>
          </a:xfrm>
          <a:prstGeom prst="rect">
            <a:avLst/>
          </a:prstGeom>
        </p:spPr>
      </p:pic>
      <p:sp>
        <p:nvSpPr>
          <p:cNvPr id="6" name="Title 7">
            <a:extLst>
              <a:ext uri="{FF2B5EF4-FFF2-40B4-BE49-F238E27FC236}">
                <a16:creationId xmlns:a16="http://schemas.microsoft.com/office/drawing/2014/main" id="{ED19A86D-E876-029A-3757-FC98C6D0CE0E}"/>
              </a:ext>
            </a:extLst>
          </p:cNvPr>
          <p:cNvSpPr txBox="1">
            <a:spLocks/>
          </p:cNvSpPr>
          <p:nvPr/>
        </p:nvSpPr>
        <p:spPr>
          <a:xfrm>
            <a:off x="380998" y="437908"/>
            <a:ext cx="11421291" cy="7604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>
                <a:solidFill>
                  <a:srgbClr val="1E718F"/>
                </a:solidFill>
                <a:latin typeface="Century Gothic" panose="020B0502020202020204" pitchFamily="34" charset="0"/>
              </a:rPr>
              <a:t>Estimating Passage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2DADAAE-C088-1A81-09D8-8656DDBED1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81000" y="1112799"/>
            <a:ext cx="11811000" cy="0"/>
          </a:xfrm>
          <a:prstGeom prst="line">
            <a:avLst/>
          </a:prstGeom>
          <a:ln>
            <a:solidFill>
              <a:srgbClr val="1E718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97465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18FA5-9277-8AE9-6CEF-DA7263261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C982B9F-CA7A-D68C-69C6-0ED229BFFE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0998" y="1330324"/>
            <a:ext cx="11620504" cy="4829175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b="1" dirty="0">
              <a:solidFill>
                <a:schemeClr val="accent4">
                  <a:lumMod val="75000"/>
                </a:schemeClr>
              </a:solidFill>
            </a:endParaRPr>
          </a:p>
          <a:p>
            <a:pPr lvl="1"/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6" name="Title 7">
            <a:extLst>
              <a:ext uri="{FF2B5EF4-FFF2-40B4-BE49-F238E27FC236}">
                <a16:creationId xmlns:a16="http://schemas.microsoft.com/office/drawing/2014/main" id="{887BC1F0-9998-801C-E17E-CEA4F12BCBDF}"/>
              </a:ext>
            </a:extLst>
          </p:cNvPr>
          <p:cNvSpPr txBox="1">
            <a:spLocks/>
          </p:cNvSpPr>
          <p:nvPr/>
        </p:nvSpPr>
        <p:spPr>
          <a:xfrm>
            <a:off x="380998" y="437908"/>
            <a:ext cx="11421291" cy="7604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>
                <a:solidFill>
                  <a:srgbClr val="1E718F"/>
                </a:solidFill>
                <a:latin typeface="Century Gothic" panose="020B0502020202020204" pitchFamily="34" charset="0"/>
              </a:rPr>
              <a:t>New Update: Incorporating discharge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337FEFF-6C56-2817-7CC3-32E3524FAA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81000" y="1112799"/>
            <a:ext cx="11811000" cy="0"/>
          </a:xfrm>
          <a:prstGeom prst="line">
            <a:avLst/>
          </a:prstGeom>
          <a:ln>
            <a:solidFill>
              <a:srgbClr val="1E718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FDC0295A-63A9-2E5E-EABE-14E67660388E}"/>
              </a:ext>
            </a:extLst>
          </p:cNvPr>
          <p:cNvSpPr txBox="1">
            <a:spLocks/>
          </p:cNvSpPr>
          <p:nvPr/>
        </p:nvSpPr>
        <p:spPr>
          <a:xfrm>
            <a:off x="6286500" y="1330324"/>
            <a:ext cx="5715002" cy="48291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8">
                <a:extLst>
                  <a:ext uri="{FF2B5EF4-FFF2-40B4-BE49-F238E27FC236}">
                    <a16:creationId xmlns:a16="http://schemas.microsoft.com/office/drawing/2014/main" id="{470F47A7-918C-0F3E-D844-094BF908012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80997" y="1405289"/>
                <a:ext cx="11515827" cy="4995508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457200" lvl="1" indent="0">
                  <a:buFont typeface="Arial" panose="020B0604020202020204" pitchFamily="34" charset="0"/>
                  <a:buNone/>
                </a:pPr>
                <a:r>
                  <a:rPr lang="en-US" sz="2800" dirty="0"/>
                  <a:t>Capture efficiency modeled as a smooth function of date and discharge:</a:t>
                </a:r>
              </a:p>
              <a:p>
                <a:pPr marL="457200" lvl="1" indent="0">
                  <a:buFont typeface="Arial" panose="020B0604020202020204" pitchFamily="34" charset="0"/>
                  <a:buNone/>
                </a:pPr>
                <a:endParaRPr lang="en-US" sz="280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𝑅𝑒𝑐𝑎𝑝𝑡𝑢𝑟𝑒𝑠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800" i="1">
                          <a:latin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800" i="1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en-US" sz="2800" i="1" smtClean="0">
                          <a:latin typeface="Cambria Math" panose="02040503050406030204" pitchFamily="18" charset="0"/>
                        </a:rPr>
                        <m:t>𝐵𝑖𝑛𝑜𝑚𝑖𝑎𝑙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𝑟𝑒𝑙𝑒𝑎𝑠𝑒𝑑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8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  <a:p>
                <a:pPr marL="457200" lvl="1" indent="0">
                  <a:buFont typeface="Arial" panose="020B0604020202020204" pitchFamily="34" charset="0"/>
                  <a:buNone/>
                </a:pPr>
                <a:r>
                  <a:rPr lang="en-US" sz="2800" dirty="0"/>
                  <a:t>Where:</a:t>
                </a:r>
              </a:p>
              <a:p>
                <a:pPr marL="457200" lvl="1" indent="0">
                  <a:buFont typeface="Arial" panose="020B0604020202020204" pitchFamily="34" charset="0"/>
                  <a:buNone/>
                </a:pPr>
                <a:endParaRPr lang="en-US" sz="280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en-US" sz="2800" i="1" smtClean="0">
                              <a:latin typeface="Cambria Math" panose="02040503050406030204" pitchFamily="18" charset="0"/>
                            </a:rPr>
                            <m:t>𝑙𝑜𝑔𝑖𝑡</m:t>
                          </m:r>
                        </m:fName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sz="2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800" dirty="0"/>
              </a:p>
              <a:p>
                <a:pPr lvl="1"/>
                <a:endParaRPr lang="en-US" sz="2800" dirty="0"/>
              </a:p>
              <a:p>
                <a:pPr marL="457200" lvl="1" indent="0">
                  <a:buFont typeface="Arial" panose="020B0604020202020204" pitchFamily="34" charset="0"/>
                  <a:buNone/>
                </a:pPr>
                <a:endParaRPr lang="en-US" sz="2800" dirty="0"/>
              </a:p>
            </p:txBody>
          </p:sp>
        </mc:Choice>
        <mc:Fallback xmlns="">
          <p:sp>
            <p:nvSpPr>
              <p:cNvPr id="4" name="Content Placeholder 8">
                <a:extLst>
                  <a:ext uri="{FF2B5EF4-FFF2-40B4-BE49-F238E27FC236}">
                    <a16:creationId xmlns:a16="http://schemas.microsoft.com/office/drawing/2014/main" id="{470F47A7-918C-0F3E-D844-094BF90801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997" y="1405289"/>
                <a:ext cx="11515827" cy="4995508"/>
              </a:xfrm>
              <a:prstGeom prst="rect">
                <a:avLst/>
              </a:prstGeom>
              <a:blipFill>
                <a:blip r:embed="rId2"/>
                <a:stretch>
                  <a:fillRect t="-21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A002C4DF-CF2D-7D66-7930-8FD9B78C5597}"/>
              </a:ext>
            </a:extLst>
          </p:cNvPr>
          <p:cNvSpPr txBox="1"/>
          <p:nvPr/>
        </p:nvSpPr>
        <p:spPr>
          <a:xfrm>
            <a:off x="4687824" y="4958935"/>
            <a:ext cx="30571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Discharge scaled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5532FA-4E88-E928-3965-67048F481DDE}"/>
              </a:ext>
            </a:extLst>
          </p:cNvPr>
          <p:cNvCxnSpPr>
            <a:cxnSpLocks/>
            <a:stCxn id="9" idx="0"/>
          </p:cNvCxnSpPr>
          <p:nvPr/>
        </p:nvCxnSpPr>
        <p:spPr>
          <a:xfrm flipV="1">
            <a:off x="6216396" y="4352544"/>
            <a:ext cx="641604" cy="6063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38878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E51D1-AB8C-B25D-E986-0ACD8A4C8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388D8741-905B-47FA-BCBA-AF20116878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>
                <a:solidFill>
                  <a:srgbClr val="1E718F"/>
                </a:solidFill>
                <a:latin typeface="Century Gothic" panose="020B0502020202020204" pitchFamily="34" charset="0"/>
              </a:rPr>
              <a:t>New Update: Incorporating discharge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B4F56FD-6C44-428C-E8DB-7AA51A3FBF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81000" y="1112799"/>
            <a:ext cx="11811000" cy="0"/>
          </a:xfrm>
          <a:prstGeom prst="line">
            <a:avLst/>
          </a:prstGeom>
          <a:ln>
            <a:solidFill>
              <a:srgbClr val="1E718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8">
                <a:extLst>
                  <a:ext uri="{FF2B5EF4-FFF2-40B4-BE49-F238E27FC236}">
                    <a16:creationId xmlns:a16="http://schemas.microsoft.com/office/drawing/2014/main" id="{A2D5AF89-810D-510B-F85C-D2F8D255C0C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80997" y="1405289"/>
                <a:ext cx="11515827" cy="4995508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3200" b="1" dirty="0"/>
                  <a:t>For each trap run a loop:</a:t>
                </a:r>
              </a:p>
              <a:p>
                <a:endParaRPr lang="en-US" sz="2800" dirty="0"/>
              </a:p>
              <a:p>
                <a:pPr lvl="1"/>
                <a:r>
                  <a:rPr lang="en-US" sz="2800" dirty="0"/>
                  <a:t>Start with a null model, then linear discharge model, then date, then </a:t>
                </a:r>
                <a:r>
                  <a:rPr lang="en-US" sz="2800" dirty="0" err="1"/>
                  <a:t>discharge+date</a:t>
                </a:r>
                <a:r>
                  <a:rPr lang="en-US" sz="2800" dirty="0"/>
                  <a:t>.</a:t>
                </a:r>
              </a:p>
              <a:p>
                <a:pPr lvl="1"/>
                <a:endParaRPr lang="en-US" sz="2800" dirty="0"/>
              </a:p>
              <a:p>
                <a:pPr lvl="1"/>
                <a:r>
                  <a:rPr lang="en-US" sz="2800" dirty="0"/>
                  <a:t>Increases spline “knots” of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800" dirty="0"/>
                  <a:t> and compares </a:t>
                </a:r>
                <a:r>
                  <a:rPr lang="en-US" sz="2800" dirty="0" err="1"/>
                  <a:t>AICc</a:t>
                </a:r>
                <a:r>
                  <a:rPr lang="en-US" sz="2800" dirty="0"/>
                  <a:t> until best model fit found.</a:t>
                </a:r>
              </a:p>
              <a:p>
                <a:pPr lvl="2"/>
                <a:r>
                  <a:rPr lang="en-US" sz="2600" dirty="0" err="1"/>
                  <a:t>AICc</a:t>
                </a:r>
                <a:r>
                  <a:rPr lang="en-US" sz="2600" dirty="0"/>
                  <a:t> is used when the ratio of model parameters to the sample size is large.</a:t>
                </a:r>
              </a:p>
              <a:p>
                <a:pPr lvl="1"/>
                <a:endParaRPr lang="en-US" sz="2800" dirty="0"/>
              </a:p>
              <a:p>
                <a:pPr lvl="1"/>
                <a:r>
                  <a:rPr lang="en-US" sz="2800" dirty="0"/>
                  <a:t>Impute missing efficiency data using model with best fit.</a:t>
                </a:r>
              </a:p>
            </p:txBody>
          </p:sp>
        </mc:Choice>
        <mc:Fallback xmlns="">
          <p:sp>
            <p:nvSpPr>
              <p:cNvPr id="2" name="Content Placeholder 8">
                <a:extLst>
                  <a:ext uri="{FF2B5EF4-FFF2-40B4-BE49-F238E27FC236}">
                    <a16:creationId xmlns:a16="http://schemas.microsoft.com/office/drawing/2014/main" id="{A2D5AF89-810D-510B-F85C-D2F8D255C0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0997" y="1405289"/>
                <a:ext cx="11515827" cy="4995508"/>
              </a:xfrm>
              <a:blipFill>
                <a:blip r:embed="rId3"/>
                <a:stretch>
                  <a:fillRect l="-1164" t="-2442" r="-1693" b="-1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585471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ABB7B9-A1C7-3545-E33A-CA100594C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7">
            <a:extLst>
              <a:ext uri="{FF2B5EF4-FFF2-40B4-BE49-F238E27FC236}">
                <a16:creationId xmlns:a16="http://schemas.microsoft.com/office/drawing/2014/main" id="{183FF412-BCC6-043E-5B5E-C48DEE67D2B0}"/>
              </a:ext>
            </a:extLst>
          </p:cNvPr>
          <p:cNvSpPr txBox="1">
            <a:spLocks/>
          </p:cNvSpPr>
          <p:nvPr/>
        </p:nvSpPr>
        <p:spPr>
          <a:xfrm>
            <a:off x="380998" y="437908"/>
            <a:ext cx="11421291" cy="7604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>
                <a:solidFill>
                  <a:srgbClr val="1E718F"/>
                </a:solidFill>
                <a:latin typeface="Century Gothic" panose="020B0502020202020204" pitchFamily="34" charset="0"/>
              </a:rPr>
              <a:t>New Update: Incorporating discharge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42BAE97-9BB9-08E0-A09C-ABC122B302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81000" y="1112799"/>
            <a:ext cx="11811000" cy="0"/>
          </a:xfrm>
          <a:prstGeom prst="line">
            <a:avLst/>
          </a:prstGeom>
          <a:ln>
            <a:solidFill>
              <a:srgbClr val="1E718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3A8A6BC9-931A-E18C-EB3A-BA626201B0E4}"/>
              </a:ext>
            </a:extLst>
          </p:cNvPr>
          <p:cNvSpPr txBox="1">
            <a:spLocks/>
          </p:cNvSpPr>
          <p:nvPr/>
        </p:nvSpPr>
        <p:spPr>
          <a:xfrm>
            <a:off x="6286500" y="1330324"/>
            <a:ext cx="5715002" cy="48291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C8673E6-E3DC-4840-5EED-F78CBE715B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8730" y="1330324"/>
            <a:ext cx="9525825" cy="5006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27619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8B2FBB-ECCB-61AE-D669-F6B8E8510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7">
            <a:extLst>
              <a:ext uri="{FF2B5EF4-FFF2-40B4-BE49-F238E27FC236}">
                <a16:creationId xmlns:a16="http://schemas.microsoft.com/office/drawing/2014/main" id="{8E7DAE09-C4FF-C2F3-F971-01293A435BAF}"/>
              </a:ext>
            </a:extLst>
          </p:cNvPr>
          <p:cNvSpPr txBox="1">
            <a:spLocks/>
          </p:cNvSpPr>
          <p:nvPr/>
        </p:nvSpPr>
        <p:spPr>
          <a:xfrm>
            <a:off x="380998" y="437908"/>
            <a:ext cx="11421291" cy="7604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>
                <a:solidFill>
                  <a:srgbClr val="1E718F"/>
                </a:solidFill>
                <a:latin typeface="Century Gothic" panose="020B0502020202020204" pitchFamily="34" charset="0"/>
              </a:rPr>
              <a:t>New Update: Incorporating discharge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1817770-91B7-3C46-F118-33D47C3E9A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81000" y="1112799"/>
            <a:ext cx="11811000" cy="0"/>
          </a:xfrm>
          <a:prstGeom prst="line">
            <a:avLst/>
          </a:prstGeom>
          <a:ln>
            <a:solidFill>
              <a:srgbClr val="1E718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757D5978-BC5B-A0DF-BD5C-2E6CD11A865D}"/>
              </a:ext>
            </a:extLst>
          </p:cNvPr>
          <p:cNvSpPr txBox="1">
            <a:spLocks/>
          </p:cNvSpPr>
          <p:nvPr/>
        </p:nvSpPr>
        <p:spPr>
          <a:xfrm>
            <a:off x="6286500" y="1330324"/>
            <a:ext cx="5715002" cy="48291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EA87A05-D3AC-74DA-D6C9-6D6D7CC0E7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1313" y="1198320"/>
            <a:ext cx="7620660" cy="5342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698536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B0AC1-8096-06FD-C7D5-02DC59BB6C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DD5FB6F-4AC2-80A2-C0E9-D1808B8A3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>
                <a:solidFill>
                  <a:srgbClr val="1E718F"/>
                </a:solidFill>
                <a:latin typeface="Century Gothic" panose="020B0502020202020204" pitchFamily="34" charset="0"/>
              </a:rPr>
              <a:t>New Update: Incorporating discharge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27AD2C1-D7BB-6328-4278-E792003F4B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81000" y="1112799"/>
            <a:ext cx="11811000" cy="0"/>
          </a:xfrm>
          <a:prstGeom prst="line">
            <a:avLst/>
          </a:prstGeom>
          <a:ln>
            <a:solidFill>
              <a:srgbClr val="1E718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8">
            <a:extLst>
              <a:ext uri="{FF2B5EF4-FFF2-40B4-BE49-F238E27FC236}">
                <a16:creationId xmlns:a16="http://schemas.microsoft.com/office/drawing/2014/main" id="{98BA20AF-20EA-BA74-961F-AA6BA58349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0997" y="1405289"/>
            <a:ext cx="11515827" cy="4995508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en-US" sz="3200" b="1" dirty="0"/>
              <a:t>Next steps/issues:</a:t>
            </a:r>
          </a:p>
          <a:p>
            <a:pPr lvl="1"/>
            <a:endParaRPr lang="en-US" b="1" dirty="0"/>
          </a:p>
          <a:p>
            <a:pPr lvl="1"/>
            <a:r>
              <a:rPr lang="en-US" sz="2800" dirty="0"/>
              <a:t>Model overfitting: too many parameters, not enough efficiency trials (addressed  with </a:t>
            </a:r>
            <a:r>
              <a:rPr lang="en-US" sz="2800" dirty="0" err="1"/>
              <a:t>AICc</a:t>
            </a:r>
            <a:r>
              <a:rPr lang="en-US" sz="2800" dirty="0"/>
              <a:t>).</a:t>
            </a:r>
          </a:p>
          <a:p>
            <a:pPr lvl="1"/>
            <a:endParaRPr lang="en-US" sz="2800" dirty="0"/>
          </a:p>
          <a:p>
            <a:pPr lvl="1"/>
            <a:r>
              <a:rPr lang="en-US" sz="2800" dirty="0"/>
              <a:t>Model extrapolates efficiency values beyond observed discharge rates.</a:t>
            </a:r>
          </a:p>
          <a:p>
            <a:pPr lvl="2"/>
            <a:r>
              <a:rPr lang="en-US" sz="2400" dirty="0"/>
              <a:t>To do: develop warning flags so user is aware of out of bound estimates.</a:t>
            </a:r>
          </a:p>
          <a:p>
            <a:pPr lvl="2"/>
            <a:endParaRPr lang="en-US" sz="2400" dirty="0"/>
          </a:p>
          <a:p>
            <a:pPr lvl="1"/>
            <a:r>
              <a:rPr lang="en-US" sz="2600" dirty="0"/>
              <a:t>Allow for user model selection.</a:t>
            </a:r>
          </a:p>
          <a:p>
            <a:pPr lvl="2"/>
            <a:r>
              <a:rPr lang="en-US" sz="2400" dirty="0"/>
              <a:t>Currently application automatically selects best </a:t>
            </a:r>
            <a:r>
              <a:rPr lang="en-US" sz="2400" dirty="0" err="1"/>
              <a:t>AICc</a:t>
            </a:r>
            <a:r>
              <a:rPr lang="en-US" sz="2400" dirty="0"/>
              <a:t> fit.</a:t>
            </a:r>
          </a:p>
          <a:p>
            <a:pPr lvl="2"/>
            <a:endParaRPr lang="en-US" sz="2400" dirty="0"/>
          </a:p>
          <a:p>
            <a:pPr lvl="1"/>
            <a:r>
              <a:rPr lang="en-US" sz="2600" dirty="0"/>
              <a:t>Updated documentation.</a:t>
            </a:r>
          </a:p>
          <a:p>
            <a:pPr lvl="2"/>
            <a:endParaRPr lang="en-US" b="1" dirty="0"/>
          </a:p>
          <a:p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68818616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7B9878-75B8-C32C-B344-EBD7E99EB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4F9B91B-255F-F8AE-F1F6-8A09B72CCD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0998" y="1330324"/>
            <a:ext cx="11620504" cy="4829175"/>
          </a:xfrm>
        </p:spPr>
        <p:txBody>
          <a:bodyPr>
            <a:normAutofit lnSpcReduction="10000"/>
          </a:bodyPr>
          <a:lstStyle/>
          <a:p>
            <a:r>
              <a:rPr lang="en-US" sz="3200" b="1" dirty="0">
                <a:solidFill>
                  <a:schemeClr val="accent4">
                    <a:lumMod val="75000"/>
                  </a:schemeClr>
                </a:solidFill>
              </a:rPr>
              <a:t>Incorporating additional fork length as a covariate.</a:t>
            </a:r>
          </a:p>
          <a:p>
            <a:r>
              <a:rPr lang="en-US" sz="3200" b="1" dirty="0">
                <a:solidFill>
                  <a:schemeClr val="accent4">
                    <a:lumMod val="75000"/>
                  </a:schemeClr>
                </a:solidFill>
              </a:rPr>
              <a:t>Incorporate other species estimates.</a:t>
            </a:r>
          </a:p>
          <a:p>
            <a:r>
              <a:rPr lang="en-US" sz="3200" b="1" dirty="0">
                <a:solidFill>
                  <a:schemeClr val="accent4">
                    <a:lumMod val="75000"/>
                  </a:schemeClr>
                </a:solidFill>
              </a:rPr>
              <a:t>Reports for model outputs and comparison.</a:t>
            </a:r>
          </a:p>
          <a:p>
            <a:r>
              <a:rPr lang="en-US" sz="3200" b="1" dirty="0">
                <a:solidFill>
                  <a:schemeClr val="accent4">
                    <a:lumMod val="75000"/>
                  </a:schemeClr>
                </a:solidFill>
              </a:rPr>
              <a:t>Incorporate DARR-R.</a:t>
            </a:r>
          </a:p>
          <a:p>
            <a:pPr lvl="1"/>
            <a:r>
              <a:rPr lang="en-US" sz="2800" dirty="0">
                <a:solidFill>
                  <a:schemeClr val="accent4">
                    <a:lumMod val="75000"/>
                  </a:schemeClr>
                </a:solidFill>
              </a:rPr>
              <a:t>Darroch Analysis with Rank Reduction established by NOAA.</a:t>
            </a:r>
          </a:p>
          <a:p>
            <a:r>
              <a:rPr lang="en-US" sz="3200" b="1" dirty="0">
                <a:solidFill>
                  <a:schemeClr val="accent4">
                    <a:lumMod val="75000"/>
                  </a:schemeClr>
                </a:solidFill>
              </a:rPr>
              <a:t>Incorporate Bayesian Time-Stratified Population Analysis Extension (BT-SPAS-X).</a:t>
            </a:r>
          </a:p>
          <a:p>
            <a:pPr lvl="1"/>
            <a:r>
              <a:rPr lang="en-US" sz="2800" dirty="0">
                <a:solidFill>
                  <a:schemeClr val="accent4">
                    <a:lumMod val="75000"/>
                  </a:schemeClr>
                </a:solidFill>
                <a:hlinkClick r:id="rId2"/>
              </a:rPr>
              <a:t>Korman et al. 2025</a:t>
            </a:r>
            <a:endParaRPr lang="en-US" sz="2800" dirty="0">
              <a:solidFill>
                <a:schemeClr val="accent4">
                  <a:lumMod val="75000"/>
                </a:schemeClr>
              </a:solidFill>
            </a:endParaRPr>
          </a:p>
          <a:p>
            <a:pPr lvl="1"/>
            <a:r>
              <a:rPr lang="en-US" sz="2800" dirty="0">
                <a:solidFill>
                  <a:schemeClr val="accent4">
                    <a:lumMod val="75000"/>
                  </a:schemeClr>
                </a:solidFill>
              </a:rPr>
              <a:t>Utilizes efficiency trial data from across years at a given site to inform estimates.</a:t>
            </a:r>
          </a:p>
        </p:txBody>
      </p:sp>
      <p:sp>
        <p:nvSpPr>
          <p:cNvPr id="6" name="Title 7">
            <a:extLst>
              <a:ext uri="{FF2B5EF4-FFF2-40B4-BE49-F238E27FC236}">
                <a16:creationId xmlns:a16="http://schemas.microsoft.com/office/drawing/2014/main" id="{CEE11691-0263-E527-4171-C386164255B2}"/>
              </a:ext>
            </a:extLst>
          </p:cNvPr>
          <p:cNvSpPr txBox="1">
            <a:spLocks/>
          </p:cNvSpPr>
          <p:nvPr/>
        </p:nvSpPr>
        <p:spPr>
          <a:xfrm>
            <a:off x="380998" y="437908"/>
            <a:ext cx="11421291" cy="7604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>
                <a:solidFill>
                  <a:srgbClr val="1E718F"/>
                </a:solidFill>
                <a:latin typeface="Century Gothic" panose="020B0502020202020204" pitchFamily="34" charset="0"/>
              </a:rPr>
              <a:t>Future updates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C958B0F-FF44-1186-5003-B7D9BB3E3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81000" y="1132677"/>
            <a:ext cx="11811000" cy="0"/>
          </a:xfrm>
          <a:prstGeom prst="line">
            <a:avLst/>
          </a:prstGeom>
          <a:ln>
            <a:solidFill>
              <a:srgbClr val="1E718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972794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36A8B-298D-BBD3-EC18-7F3A48FC3E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7">
            <a:extLst>
              <a:ext uri="{FF2B5EF4-FFF2-40B4-BE49-F238E27FC236}">
                <a16:creationId xmlns:a16="http://schemas.microsoft.com/office/drawing/2014/main" id="{4B459814-C1AF-4C26-B9A2-41F972DEB6A8}"/>
              </a:ext>
            </a:extLst>
          </p:cNvPr>
          <p:cNvSpPr txBox="1">
            <a:spLocks/>
          </p:cNvSpPr>
          <p:nvPr/>
        </p:nvSpPr>
        <p:spPr>
          <a:xfrm>
            <a:off x="380998" y="437908"/>
            <a:ext cx="11421291" cy="7604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>
                <a:solidFill>
                  <a:srgbClr val="1E718F"/>
                </a:solidFill>
                <a:latin typeface="Century Gothic" panose="020B0502020202020204" pitchFamily="34" charset="0"/>
              </a:rPr>
              <a:t>Next steps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3B78AAA-E538-B3D3-F6EB-5F80FD9FF1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81000" y="1112799"/>
            <a:ext cx="11811000" cy="0"/>
          </a:xfrm>
          <a:prstGeom prst="line">
            <a:avLst/>
          </a:prstGeom>
          <a:ln>
            <a:solidFill>
              <a:srgbClr val="1E718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0EEA41F7-EB7D-6758-86FC-6C41112B03D7}"/>
              </a:ext>
            </a:extLst>
          </p:cNvPr>
          <p:cNvSpPr txBox="1">
            <a:spLocks/>
          </p:cNvSpPr>
          <p:nvPr/>
        </p:nvSpPr>
        <p:spPr>
          <a:xfrm>
            <a:off x="6286500" y="1330324"/>
            <a:ext cx="5715002" cy="48291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194D39C-BD42-2FC6-24DB-BD5AE98491F6}"/>
              </a:ext>
            </a:extLst>
          </p:cNvPr>
          <p:cNvGrpSpPr/>
          <p:nvPr/>
        </p:nvGrpSpPr>
        <p:grpSpPr>
          <a:xfrm>
            <a:off x="146048" y="2513573"/>
            <a:ext cx="1835150" cy="1830854"/>
            <a:chOff x="380998" y="2582396"/>
            <a:chExt cx="1835150" cy="1830854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991A33C9-1297-81BC-2B77-9768EED71E86}"/>
                </a:ext>
              </a:extLst>
            </p:cNvPr>
            <p:cNvSpPr/>
            <p:nvPr/>
          </p:nvSpPr>
          <p:spPr>
            <a:xfrm>
              <a:off x="450850" y="2582396"/>
              <a:ext cx="1682750" cy="183085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" name="Graphic 9" descr="Clipboard with solid fill">
              <a:extLst>
                <a:ext uri="{FF2B5EF4-FFF2-40B4-BE49-F238E27FC236}">
                  <a16:creationId xmlns:a16="http://schemas.microsoft.com/office/drawing/2014/main" id="{D24E85B6-44C1-546F-3B89-75A63061116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80998" y="3287711"/>
              <a:ext cx="914400" cy="914400"/>
            </a:xfrm>
            <a:prstGeom prst="rect">
              <a:avLst/>
            </a:prstGeom>
          </p:spPr>
        </p:pic>
        <p:pic>
          <p:nvPicPr>
            <p:cNvPr id="11" name="Graphic 10" descr="Clipboard outline">
              <a:extLst>
                <a:ext uri="{FF2B5EF4-FFF2-40B4-BE49-F238E27FC236}">
                  <a16:creationId xmlns:a16="http://schemas.microsoft.com/office/drawing/2014/main" id="{E5A39B12-1955-52A8-3EE5-89873C7A971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301748" y="3287711"/>
              <a:ext cx="914400" cy="914400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A1C51E8-E7F0-FB51-1262-EFC071285493}"/>
                </a:ext>
              </a:extLst>
            </p:cNvPr>
            <p:cNvSpPr txBox="1"/>
            <p:nvPr/>
          </p:nvSpPr>
          <p:spPr>
            <a:xfrm>
              <a:off x="565150" y="2589869"/>
              <a:ext cx="145415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replicate CAMPR package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085645AE-A684-82FD-302D-8660289EC1CB}"/>
                </a:ext>
              </a:extLst>
            </p:cNvPr>
            <p:cNvCxnSpPr/>
            <p:nvPr/>
          </p:nvCxnSpPr>
          <p:spPr>
            <a:xfrm>
              <a:off x="1149350" y="3744911"/>
              <a:ext cx="317500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23F43C4-A358-7DEA-4E2B-85EA90CAE908}"/>
              </a:ext>
            </a:extLst>
          </p:cNvPr>
          <p:cNvGrpSpPr/>
          <p:nvPr/>
        </p:nvGrpSpPr>
        <p:grpSpPr>
          <a:xfrm>
            <a:off x="4193678" y="2513573"/>
            <a:ext cx="1682750" cy="1830854"/>
            <a:chOff x="6762750" y="2500407"/>
            <a:chExt cx="1682750" cy="1830854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CEC21A07-6858-146F-330A-7389F74ADBEF}"/>
                </a:ext>
              </a:extLst>
            </p:cNvPr>
            <p:cNvGrpSpPr/>
            <p:nvPr/>
          </p:nvGrpSpPr>
          <p:grpSpPr>
            <a:xfrm>
              <a:off x="6762750" y="2500407"/>
              <a:ext cx="1682750" cy="1830854"/>
              <a:chOff x="450850" y="2582396"/>
              <a:chExt cx="1682750" cy="1830854"/>
            </a:xfrm>
          </p:grpSpPr>
          <p:sp>
            <p:nvSpPr>
              <p:cNvPr id="17" name="Rectangle: Rounded Corners 16">
                <a:extLst>
                  <a:ext uri="{FF2B5EF4-FFF2-40B4-BE49-F238E27FC236}">
                    <a16:creationId xmlns:a16="http://schemas.microsoft.com/office/drawing/2014/main" id="{C5F1AC14-6F70-4DB7-2941-399C039F3FD2}"/>
                  </a:ext>
                </a:extLst>
              </p:cNvPr>
              <p:cNvSpPr/>
              <p:nvPr/>
            </p:nvSpPr>
            <p:spPr>
              <a:xfrm>
                <a:off x="450850" y="2582396"/>
                <a:ext cx="1682750" cy="1830854"/>
              </a:xfrm>
              <a:prstGeom prst="round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C880B41-53D3-2211-5A5D-ACBAA6AEF66F}"/>
                  </a:ext>
                </a:extLst>
              </p:cNvPr>
              <p:cNvSpPr txBox="1"/>
              <p:nvPr/>
            </p:nvSpPr>
            <p:spPr>
              <a:xfrm>
                <a:off x="565150" y="2589869"/>
                <a:ext cx="145415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/>
                  <a:t>Shiny application</a:t>
                </a:r>
              </a:p>
            </p:txBody>
          </p:sp>
        </p:grpSp>
        <p:pic>
          <p:nvPicPr>
            <p:cNvPr id="16" name="Graphic 15" descr="Packing Box Open with solid fill">
              <a:extLst>
                <a:ext uri="{FF2B5EF4-FFF2-40B4-BE49-F238E27FC236}">
                  <a16:creationId xmlns:a16="http://schemas.microsoft.com/office/drawing/2014/main" id="{3D6AC14D-65C3-15D3-EC1D-E13ADE59586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146925" y="3205722"/>
              <a:ext cx="914400" cy="914400"/>
            </a:xfrm>
            <a:prstGeom prst="rect">
              <a:avLst/>
            </a:prstGeom>
          </p:spPr>
        </p:pic>
      </p:grp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9259AD3-A45B-7D7B-9702-F6DA5235DD90}"/>
              </a:ext>
            </a:extLst>
          </p:cNvPr>
          <p:cNvCxnSpPr>
            <a:cxnSpLocks/>
          </p:cNvCxnSpPr>
          <p:nvPr/>
        </p:nvCxnSpPr>
        <p:spPr>
          <a:xfrm>
            <a:off x="1944370" y="3469078"/>
            <a:ext cx="212725" cy="0"/>
          </a:xfrm>
          <a:prstGeom prst="straightConnector1">
            <a:avLst/>
          </a:prstGeom>
          <a:ln w="38100">
            <a:solidFill>
              <a:schemeClr val="accent4">
                <a:lumMod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20" name="Group 19">
            <a:extLst>
              <a:ext uri="{FF2B5EF4-FFF2-40B4-BE49-F238E27FC236}">
                <a16:creationId xmlns:a16="http://schemas.microsoft.com/office/drawing/2014/main" id="{70CD6E59-D512-2685-50D6-8C88C49A8CEE}"/>
              </a:ext>
            </a:extLst>
          </p:cNvPr>
          <p:cNvGrpSpPr/>
          <p:nvPr/>
        </p:nvGrpSpPr>
        <p:grpSpPr>
          <a:xfrm>
            <a:off x="6178550" y="2513573"/>
            <a:ext cx="1682750" cy="1830854"/>
            <a:chOff x="4603750" y="2493961"/>
            <a:chExt cx="1682750" cy="183085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02F945B9-54B4-E673-8239-21217EF5B895}"/>
                </a:ext>
              </a:extLst>
            </p:cNvPr>
            <p:cNvGrpSpPr/>
            <p:nvPr/>
          </p:nvGrpSpPr>
          <p:grpSpPr>
            <a:xfrm>
              <a:off x="4603750" y="2493961"/>
              <a:ext cx="1682750" cy="1830854"/>
              <a:chOff x="450850" y="2582396"/>
              <a:chExt cx="1682750" cy="1830854"/>
            </a:xfrm>
          </p:grpSpPr>
          <p:sp>
            <p:nvSpPr>
              <p:cNvPr id="23" name="Rectangle: Rounded Corners 22">
                <a:extLst>
                  <a:ext uri="{FF2B5EF4-FFF2-40B4-BE49-F238E27FC236}">
                    <a16:creationId xmlns:a16="http://schemas.microsoft.com/office/drawing/2014/main" id="{856E23D8-FE02-70AD-2ED1-C6A29D54F7F3}"/>
                  </a:ext>
                </a:extLst>
              </p:cNvPr>
              <p:cNvSpPr/>
              <p:nvPr/>
            </p:nvSpPr>
            <p:spPr>
              <a:xfrm>
                <a:off x="450850" y="2582396"/>
                <a:ext cx="1682750" cy="1830854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0FEF71A-D497-2096-FBF1-DFE6B455D68B}"/>
                  </a:ext>
                </a:extLst>
              </p:cNvPr>
              <p:cNvSpPr txBox="1"/>
              <p:nvPr/>
            </p:nvSpPr>
            <p:spPr>
              <a:xfrm>
                <a:off x="565150" y="2589869"/>
                <a:ext cx="145415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/>
                  <a:t>Detailed documentation</a:t>
                </a:r>
              </a:p>
            </p:txBody>
          </p:sp>
        </p:grpSp>
        <p:pic>
          <p:nvPicPr>
            <p:cNvPr id="22" name="Graphic 21" descr="List with solid fill">
              <a:extLst>
                <a:ext uri="{FF2B5EF4-FFF2-40B4-BE49-F238E27FC236}">
                  <a16:creationId xmlns:a16="http://schemas.microsoft.com/office/drawing/2014/main" id="{E5453045-93BB-7CA5-A89A-3A537902C85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987925" y="3217534"/>
              <a:ext cx="914400" cy="914400"/>
            </a:xfrm>
            <a:prstGeom prst="rect">
              <a:avLst/>
            </a:prstGeom>
          </p:spPr>
        </p:pic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D82E8D3-A52E-BB75-A009-37B32DF90894}"/>
              </a:ext>
            </a:extLst>
          </p:cNvPr>
          <p:cNvGrpSpPr/>
          <p:nvPr/>
        </p:nvGrpSpPr>
        <p:grpSpPr>
          <a:xfrm>
            <a:off x="2200275" y="2514791"/>
            <a:ext cx="1682750" cy="1830854"/>
            <a:chOff x="2444750" y="2513573"/>
            <a:chExt cx="1682750" cy="1830854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B79352E7-6079-8D3A-D65C-922B0AEC37F3}"/>
                </a:ext>
              </a:extLst>
            </p:cNvPr>
            <p:cNvGrpSpPr/>
            <p:nvPr/>
          </p:nvGrpSpPr>
          <p:grpSpPr>
            <a:xfrm>
              <a:off x="2444750" y="2513573"/>
              <a:ext cx="1682750" cy="1830854"/>
              <a:chOff x="450850" y="2582396"/>
              <a:chExt cx="1682750" cy="1830854"/>
            </a:xfrm>
          </p:grpSpPr>
          <p:sp>
            <p:nvSpPr>
              <p:cNvPr id="28" name="Rectangle: Rounded Corners 27">
                <a:extLst>
                  <a:ext uri="{FF2B5EF4-FFF2-40B4-BE49-F238E27FC236}">
                    <a16:creationId xmlns:a16="http://schemas.microsoft.com/office/drawing/2014/main" id="{36C71679-3BD8-F4CB-E494-8F304A00719B}"/>
                  </a:ext>
                </a:extLst>
              </p:cNvPr>
              <p:cNvSpPr/>
              <p:nvPr/>
            </p:nvSpPr>
            <p:spPr>
              <a:xfrm>
                <a:off x="450850" y="2582396"/>
                <a:ext cx="1682750" cy="183085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88C242F8-BE39-8E18-33FD-8DFB2A34F157}"/>
                  </a:ext>
                </a:extLst>
              </p:cNvPr>
              <p:cNvSpPr txBox="1"/>
              <p:nvPr/>
            </p:nvSpPr>
            <p:spPr>
              <a:xfrm>
                <a:off x="565150" y="2589869"/>
                <a:ext cx="1454150" cy="7386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/>
                  <a:t>Testing with real and simulated data</a:t>
                </a:r>
              </a:p>
            </p:txBody>
          </p:sp>
        </p:grpSp>
        <p:pic>
          <p:nvPicPr>
            <p:cNvPr id="27" name="Graphic 26" descr="Statistics with solid fill">
              <a:extLst>
                <a:ext uri="{FF2B5EF4-FFF2-40B4-BE49-F238E27FC236}">
                  <a16:creationId xmlns:a16="http://schemas.microsoft.com/office/drawing/2014/main" id="{B69A228C-6C7F-0317-E764-102B18A9267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825750" y="3204834"/>
              <a:ext cx="914400" cy="914400"/>
            </a:xfrm>
            <a:prstGeom prst="rect">
              <a:avLst/>
            </a:prstGeom>
          </p:spPr>
        </p:pic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6834FA38-4EA0-096F-8FC0-FEDCC8F46176}"/>
              </a:ext>
            </a:extLst>
          </p:cNvPr>
          <p:cNvGrpSpPr/>
          <p:nvPr/>
        </p:nvGrpSpPr>
        <p:grpSpPr>
          <a:xfrm>
            <a:off x="8156575" y="2521046"/>
            <a:ext cx="1682750" cy="1830854"/>
            <a:chOff x="450850" y="2582396"/>
            <a:chExt cx="1682750" cy="1830854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6B70B1DA-E074-ADBB-B6B1-FD9DFB46B4BD}"/>
                </a:ext>
              </a:extLst>
            </p:cNvPr>
            <p:cNvSpPr/>
            <p:nvPr/>
          </p:nvSpPr>
          <p:spPr>
            <a:xfrm>
              <a:off x="450850" y="2582396"/>
              <a:ext cx="1682750" cy="1830854"/>
            </a:xfrm>
            <a:prstGeom prst="roundRect">
              <a:avLst/>
            </a:prstGeom>
            <a:solidFill>
              <a:srgbClr val="F7F2CB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57502EF-4434-A3C6-C527-B07F270A2716}"/>
                </a:ext>
              </a:extLst>
            </p:cNvPr>
            <p:cNvSpPr txBox="1"/>
            <p:nvPr/>
          </p:nvSpPr>
          <p:spPr>
            <a:xfrm>
              <a:off x="565150" y="2589869"/>
              <a:ext cx="1454150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Initial rollout and user feedback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1FA6D8F6-E4C3-2214-5F2A-5AF677D9B477}"/>
              </a:ext>
            </a:extLst>
          </p:cNvPr>
          <p:cNvGrpSpPr/>
          <p:nvPr/>
        </p:nvGrpSpPr>
        <p:grpSpPr>
          <a:xfrm>
            <a:off x="10140950" y="2513573"/>
            <a:ext cx="1682750" cy="1830854"/>
            <a:chOff x="450850" y="2582396"/>
            <a:chExt cx="1682750" cy="1830854"/>
          </a:xfrm>
        </p:grpSpPr>
        <p:sp>
          <p:nvSpPr>
            <p:cNvPr id="34" name="Rectangle: Rounded Corners 33">
              <a:extLst>
                <a:ext uri="{FF2B5EF4-FFF2-40B4-BE49-F238E27FC236}">
                  <a16:creationId xmlns:a16="http://schemas.microsoft.com/office/drawing/2014/main" id="{F8ACE7D2-5733-8E81-737D-B386B3012D7F}"/>
                </a:ext>
              </a:extLst>
            </p:cNvPr>
            <p:cNvSpPr/>
            <p:nvPr/>
          </p:nvSpPr>
          <p:spPr>
            <a:xfrm>
              <a:off x="450850" y="2582396"/>
              <a:ext cx="1682750" cy="1830854"/>
            </a:xfrm>
            <a:prstGeom prst="roundRect">
              <a:avLst/>
            </a:prstGeom>
            <a:solidFill>
              <a:srgbClr val="D3EAE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E911BEE2-9A7C-82CA-4D91-4AF67672A2B6}"/>
                </a:ext>
              </a:extLst>
            </p:cNvPr>
            <p:cNvSpPr txBox="1"/>
            <p:nvPr/>
          </p:nvSpPr>
          <p:spPr>
            <a:xfrm>
              <a:off x="565150" y="2589869"/>
              <a:ext cx="1454150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Continued support and future updates</a:t>
              </a:r>
            </a:p>
          </p:txBody>
        </p:sp>
      </p:grpSp>
      <p:pic>
        <p:nvPicPr>
          <p:cNvPr id="36" name="Graphic 35" descr="Upload outline">
            <a:extLst>
              <a:ext uri="{FF2B5EF4-FFF2-40B4-BE49-F238E27FC236}">
                <a16:creationId xmlns:a16="http://schemas.microsoft.com/office/drawing/2014/main" id="{0B4CA4D0-C87D-EB17-2E0A-8463CB5A36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585200" y="3206614"/>
            <a:ext cx="914400" cy="914400"/>
          </a:xfrm>
          <a:prstGeom prst="rect">
            <a:avLst/>
          </a:prstGeom>
        </p:spPr>
      </p:pic>
      <p:pic>
        <p:nvPicPr>
          <p:cNvPr id="37" name="Graphic 36" descr="Syncing cloud outline">
            <a:extLst>
              <a:ext uri="{FF2B5EF4-FFF2-40B4-BE49-F238E27FC236}">
                <a16:creationId xmlns:a16="http://schemas.microsoft.com/office/drawing/2014/main" id="{74383CAF-C81C-7CFD-7E21-DC8AFF410D4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525125" y="3152477"/>
            <a:ext cx="914400" cy="914400"/>
          </a:xfrm>
          <a:prstGeom prst="rect">
            <a:avLst/>
          </a:prstGeom>
        </p:spPr>
      </p:pic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CABAE88-9305-E1DB-4D68-3DCEFDC954D6}"/>
              </a:ext>
            </a:extLst>
          </p:cNvPr>
          <p:cNvCxnSpPr>
            <a:cxnSpLocks/>
          </p:cNvCxnSpPr>
          <p:nvPr/>
        </p:nvCxnSpPr>
        <p:spPr>
          <a:xfrm>
            <a:off x="3920490" y="3444240"/>
            <a:ext cx="212725" cy="0"/>
          </a:xfrm>
          <a:prstGeom prst="straightConnector1">
            <a:avLst/>
          </a:prstGeom>
          <a:ln w="38100">
            <a:solidFill>
              <a:schemeClr val="accent4">
                <a:lumMod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334A7861-BB38-C7CF-454A-F971E60B5636}"/>
              </a:ext>
            </a:extLst>
          </p:cNvPr>
          <p:cNvCxnSpPr>
            <a:cxnSpLocks/>
          </p:cNvCxnSpPr>
          <p:nvPr/>
        </p:nvCxnSpPr>
        <p:spPr>
          <a:xfrm>
            <a:off x="5927090" y="3453838"/>
            <a:ext cx="212725" cy="0"/>
          </a:xfrm>
          <a:prstGeom prst="straightConnector1">
            <a:avLst/>
          </a:prstGeom>
          <a:ln w="38100">
            <a:solidFill>
              <a:schemeClr val="accent4">
                <a:lumMod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66C9D3FC-1A33-609A-936E-EA558A6F11D3}"/>
              </a:ext>
            </a:extLst>
          </p:cNvPr>
          <p:cNvCxnSpPr>
            <a:cxnSpLocks/>
          </p:cNvCxnSpPr>
          <p:nvPr/>
        </p:nvCxnSpPr>
        <p:spPr>
          <a:xfrm>
            <a:off x="7903210" y="3429000"/>
            <a:ext cx="212725" cy="0"/>
          </a:xfrm>
          <a:prstGeom prst="straightConnector1">
            <a:avLst/>
          </a:prstGeom>
          <a:ln w="38100">
            <a:solidFill>
              <a:schemeClr val="accent4">
                <a:lumMod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FAD5689-5C90-2624-8F9E-C947089EE1DA}"/>
              </a:ext>
            </a:extLst>
          </p:cNvPr>
          <p:cNvCxnSpPr>
            <a:cxnSpLocks/>
          </p:cNvCxnSpPr>
          <p:nvPr/>
        </p:nvCxnSpPr>
        <p:spPr>
          <a:xfrm>
            <a:off x="9889490" y="3444240"/>
            <a:ext cx="212725" cy="0"/>
          </a:xfrm>
          <a:prstGeom prst="straightConnector1">
            <a:avLst/>
          </a:prstGeom>
          <a:ln w="38100">
            <a:solidFill>
              <a:schemeClr val="accent4">
                <a:lumMod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A7FA6761-FF7E-2632-042E-D9E486769F3C}"/>
              </a:ext>
            </a:extLst>
          </p:cNvPr>
          <p:cNvCxnSpPr/>
          <p:nvPr/>
        </p:nvCxnSpPr>
        <p:spPr>
          <a:xfrm>
            <a:off x="9037255" y="1198320"/>
            <a:ext cx="0" cy="1264020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FAB21C08-845B-0C1F-AC3E-19B03AEE6BAF}"/>
              </a:ext>
            </a:extLst>
          </p:cNvPr>
          <p:cNvCxnSpPr/>
          <p:nvPr/>
        </p:nvCxnSpPr>
        <p:spPr>
          <a:xfrm>
            <a:off x="10927015" y="1198320"/>
            <a:ext cx="0" cy="1264020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40539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3295</TotalTime>
  <Words>1383</Words>
  <Application>Microsoft Office PowerPoint</Application>
  <PresentationFormat>Widescreen</PresentationFormat>
  <Paragraphs>260</Paragraphs>
  <Slides>27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3" baseType="lpstr">
      <vt:lpstr>Aptos</vt:lpstr>
      <vt:lpstr>Aptos Display</vt:lpstr>
      <vt:lpstr>Arial</vt:lpstr>
      <vt:lpstr>Cambria Math</vt:lpstr>
      <vt:lpstr>Century Gothic</vt:lpstr>
      <vt:lpstr>Office Theme</vt:lpstr>
      <vt:lpstr>Rotary screw trap Passage Estimation “RST_app”</vt:lpstr>
      <vt:lpstr>Outline</vt:lpstr>
      <vt:lpstr>Why a new application?</vt:lpstr>
      <vt:lpstr>Why a new application?</vt:lpstr>
      <vt:lpstr>Why a new application?</vt:lpstr>
      <vt:lpstr>Demo application</vt:lpstr>
      <vt:lpstr>Data inputs and formatting</vt:lpstr>
      <vt:lpstr>App functions and flow</vt:lpstr>
      <vt:lpstr>App functions and flow</vt:lpstr>
      <vt:lpstr>PowerPoint Presentation</vt:lpstr>
      <vt:lpstr>Catch model fitting (model_catch.R)</vt:lpstr>
      <vt:lpstr>Catch model fitting (model_catch.R)</vt:lpstr>
      <vt:lpstr>PowerPoint Presentation</vt:lpstr>
      <vt:lpstr>Efficiency model fitting (model_efficiency.R)</vt:lpstr>
      <vt:lpstr>Efficiency model fitting (model_efficiency.R)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New Update: Incorporating discharge</vt:lpstr>
      <vt:lpstr>PowerPoint Presentation</vt:lpstr>
      <vt:lpstr>PowerPoint Presentation</vt:lpstr>
      <vt:lpstr>New Update: Incorporating discharge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Barros, Arthur@Wildlife</dc:creator>
  <cp:lastModifiedBy>Barros, Arthur@Wildlife</cp:lastModifiedBy>
  <cp:revision>1</cp:revision>
  <dcterms:created xsi:type="dcterms:W3CDTF">2026-06-22T14:57:43Z</dcterms:created>
  <dcterms:modified xsi:type="dcterms:W3CDTF">2026-08-28T19:10:03Z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f5e96a0-ae28-4333-a0c5-db7fb08f6c69_Enabled">
    <vt:lpwstr>true</vt:lpwstr>
  </property>
  <property fmtid="{D5CDD505-2E9C-101B-9397-08002B2CF9AE}" pid="3" name="MSIP_Label_6f5e96a0-ae28-4333-a0c5-db7fb08f6c69_SetDate">
    <vt:lpwstr>2026-06-24T21:36:43Z</vt:lpwstr>
  </property>
  <property fmtid="{D5CDD505-2E9C-101B-9397-08002B2CF9AE}" pid="4" name="MSIP_Label_6f5e96a0-ae28-4333-a0c5-db7fb08f6c69_Method">
    <vt:lpwstr>Standard</vt:lpwstr>
  </property>
  <property fmtid="{D5CDD505-2E9C-101B-9397-08002B2CF9AE}" pid="5" name="MSIP_Label_6f5e96a0-ae28-4333-a0c5-db7fb08f6c69_Name">
    <vt:lpwstr>defa4170-0d19-0005-0004-bc88714345d2</vt:lpwstr>
  </property>
  <property fmtid="{D5CDD505-2E9C-101B-9397-08002B2CF9AE}" pid="6" name="MSIP_Label_6f5e96a0-ae28-4333-a0c5-db7fb08f6c69_SiteId">
    <vt:lpwstr>4b633c25-efbf-4006-9f15-07442ba7aa0b</vt:lpwstr>
  </property>
  <property fmtid="{D5CDD505-2E9C-101B-9397-08002B2CF9AE}" pid="7" name="MSIP_Label_6f5e96a0-ae28-4333-a0c5-db7fb08f6c69_ActionId">
    <vt:lpwstr>c83f4618-13fd-4b29-a0a0-8e71f599b2d0</vt:lpwstr>
  </property>
  <property fmtid="{D5CDD505-2E9C-101B-9397-08002B2CF9AE}" pid="8" name="MSIP_Label_6f5e96a0-ae28-4333-a0c5-db7fb08f6c69_ContentBits">
    <vt:lpwstr>0</vt:lpwstr>
  </property>
  <property fmtid="{D5CDD505-2E9C-101B-9397-08002B2CF9AE}" pid="9" name="MSIP_Label_6f5e96a0-ae28-4333-a0c5-db7fb08f6c69_Tag">
    <vt:lpwstr>10, 3, 0, 1</vt:lpwstr>
  </property>
</Properties>
</file>