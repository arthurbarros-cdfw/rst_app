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6" r:id="rId2"/>
    <p:sldId id="299" r:id="rId3"/>
    <p:sldId id="300" r:id="rId4"/>
    <p:sldId id="297" r:id="rId5"/>
    <p:sldId id="298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FA6DB5-28CD-4848-A99A-6ED94B7AEA2C}" v="15" dt="2026-05-04T19:55:10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os, Arthur@Wildlife" userId="13f56b0b-3529-4413-b3c2-bd9e153a9954" providerId="ADAL" clId="{83F66843-D3E2-4209-914A-087BF0EB956C}"/>
    <pc:docChg chg="custSel addSld delSld modSld sldOrd">
      <pc:chgData name="Barros, Arthur@Wildlife" userId="13f56b0b-3529-4413-b3c2-bd9e153a9954" providerId="ADAL" clId="{83F66843-D3E2-4209-914A-087BF0EB956C}" dt="2026-05-04T20:18:59.662" v="1788" actId="20577"/>
      <pc:docMkLst>
        <pc:docMk/>
      </pc:docMkLst>
      <pc:sldChg chg="new del">
        <pc:chgData name="Barros, Arthur@Wildlife" userId="13f56b0b-3529-4413-b3c2-bd9e153a9954" providerId="ADAL" clId="{83F66843-D3E2-4209-914A-087BF0EB956C}" dt="2026-05-04T18:01:27.942" v="127" actId="47"/>
        <pc:sldMkLst>
          <pc:docMk/>
          <pc:sldMk cId="323225119" sldId="256"/>
        </pc:sldMkLst>
      </pc:sldChg>
      <pc:sldChg chg="add ord">
        <pc:chgData name="Barros, Arthur@Wildlife" userId="13f56b0b-3529-4413-b3c2-bd9e153a9954" providerId="ADAL" clId="{83F66843-D3E2-4209-914A-087BF0EB956C}" dt="2026-05-04T18:01:04.530" v="126"/>
        <pc:sldMkLst>
          <pc:docMk/>
          <pc:sldMk cId="291410532" sldId="276"/>
        </pc:sldMkLst>
      </pc:sldChg>
      <pc:sldChg chg="modSp add mod ord">
        <pc:chgData name="Barros, Arthur@Wildlife" userId="13f56b0b-3529-4413-b3c2-bd9e153a9954" providerId="ADAL" clId="{83F66843-D3E2-4209-914A-087BF0EB956C}" dt="2026-05-04T18:09:43.042" v="639"/>
        <pc:sldMkLst>
          <pc:docMk/>
          <pc:sldMk cId="4228796254" sldId="294"/>
        </pc:sldMkLst>
        <pc:spChg chg="mod">
          <ac:chgData name="Barros, Arthur@Wildlife" userId="13f56b0b-3529-4413-b3c2-bd9e153a9954" providerId="ADAL" clId="{83F66843-D3E2-4209-914A-087BF0EB956C}" dt="2026-05-04T17:46:18.913" v="120" actId="20577"/>
          <ac:spMkLst>
            <pc:docMk/>
            <pc:sldMk cId="4228796254" sldId="294"/>
            <ac:spMk id="5" creationId="{3B1E2D9D-A303-61FF-0B99-3D8B2AF3F63D}"/>
          </ac:spMkLst>
        </pc:spChg>
        <pc:spChg chg="mod">
          <ac:chgData name="Barros, Arthur@Wildlife" userId="13f56b0b-3529-4413-b3c2-bd9e153a9954" providerId="ADAL" clId="{83F66843-D3E2-4209-914A-087BF0EB956C}" dt="2026-05-04T17:19:27.550" v="14" actId="20577"/>
          <ac:spMkLst>
            <pc:docMk/>
            <pc:sldMk cId="4228796254" sldId="294"/>
            <ac:spMk id="6" creationId="{957DCE87-65F3-3975-7D03-33D8F567F965}"/>
          </ac:spMkLst>
        </pc:spChg>
      </pc:sldChg>
      <pc:sldChg chg="addSp modSp add mod">
        <pc:chgData name="Barros, Arthur@Wildlife" userId="13f56b0b-3529-4413-b3c2-bd9e153a9954" providerId="ADAL" clId="{83F66843-D3E2-4209-914A-087BF0EB956C}" dt="2026-05-04T19:22:51.046" v="1022" actId="20577"/>
        <pc:sldMkLst>
          <pc:docMk/>
          <pc:sldMk cId="1570780979" sldId="297"/>
        </pc:sldMkLst>
        <pc:spChg chg="mod">
          <ac:chgData name="Barros, Arthur@Wildlife" userId="13f56b0b-3529-4413-b3c2-bd9e153a9954" providerId="ADAL" clId="{83F66843-D3E2-4209-914A-087BF0EB956C}" dt="2026-05-04T19:22:51.046" v="1022" actId="20577"/>
          <ac:spMkLst>
            <pc:docMk/>
            <pc:sldMk cId="1570780979" sldId="297"/>
            <ac:spMk id="6" creationId="{9383F815-9C8A-7C54-40E9-BC6FD6331EAC}"/>
          </ac:spMkLst>
        </pc:spChg>
        <pc:cxnChg chg="add mod">
          <ac:chgData name="Barros, Arthur@Wildlife" userId="13f56b0b-3529-4413-b3c2-bd9e153a9954" providerId="ADAL" clId="{83F66843-D3E2-4209-914A-087BF0EB956C}" dt="2026-05-04T17:49:43.453" v="124" actId="1076"/>
          <ac:cxnSpMkLst>
            <pc:docMk/>
            <pc:sldMk cId="1570780979" sldId="297"/>
            <ac:cxnSpMk id="2" creationId="{FD9F8171-B597-15EE-A6F1-2738ACCC7CAA}"/>
          </ac:cxnSpMkLst>
        </pc:cxnChg>
      </pc:sldChg>
      <pc:sldChg chg="modSp add mod">
        <pc:chgData name="Barros, Arthur@Wildlife" userId="13f56b0b-3529-4413-b3c2-bd9e153a9954" providerId="ADAL" clId="{83F66843-D3E2-4209-914A-087BF0EB956C}" dt="2026-05-04T18:06:43.338" v="637" actId="20577"/>
        <pc:sldMkLst>
          <pc:docMk/>
          <pc:sldMk cId="1714347423" sldId="298"/>
        </pc:sldMkLst>
        <pc:spChg chg="mod">
          <ac:chgData name="Barros, Arthur@Wildlife" userId="13f56b0b-3529-4413-b3c2-bd9e153a9954" providerId="ADAL" clId="{83F66843-D3E2-4209-914A-087BF0EB956C}" dt="2026-05-04T18:06:43.338" v="637" actId="20577"/>
          <ac:spMkLst>
            <pc:docMk/>
            <pc:sldMk cId="1714347423" sldId="298"/>
            <ac:spMk id="5" creationId="{191422DD-C927-3AC8-8562-35E41AD250F2}"/>
          </ac:spMkLst>
        </pc:spChg>
        <pc:spChg chg="mod">
          <ac:chgData name="Barros, Arthur@Wildlife" userId="13f56b0b-3529-4413-b3c2-bd9e153a9954" providerId="ADAL" clId="{83F66843-D3E2-4209-914A-087BF0EB956C}" dt="2026-05-04T18:02:44.168" v="156" actId="20577"/>
          <ac:spMkLst>
            <pc:docMk/>
            <pc:sldMk cId="1714347423" sldId="298"/>
            <ac:spMk id="6" creationId="{5D28AA9F-5446-B1CF-B025-5B21B179CDFE}"/>
          </ac:spMkLst>
        </pc:spChg>
      </pc:sldChg>
      <pc:sldChg chg="modSp add mod">
        <pc:chgData name="Barros, Arthur@Wildlife" userId="13f56b0b-3529-4413-b3c2-bd9e153a9954" providerId="ADAL" clId="{83F66843-D3E2-4209-914A-087BF0EB956C}" dt="2026-05-04T20:18:59.662" v="1788" actId="20577"/>
        <pc:sldMkLst>
          <pc:docMk/>
          <pc:sldMk cId="1089727942" sldId="299"/>
        </pc:sldMkLst>
        <pc:spChg chg="mod">
          <ac:chgData name="Barros, Arthur@Wildlife" userId="13f56b0b-3529-4413-b3c2-bd9e153a9954" providerId="ADAL" clId="{83F66843-D3E2-4209-914A-087BF0EB956C}" dt="2026-05-04T20:18:59.662" v="1788" actId="20577"/>
          <ac:spMkLst>
            <pc:docMk/>
            <pc:sldMk cId="1089727942" sldId="299"/>
            <ac:spMk id="5" creationId="{14F9B91B-255F-F8AE-F1F6-8A09B72CCDD6}"/>
          </ac:spMkLst>
        </pc:spChg>
        <pc:spChg chg="mod">
          <ac:chgData name="Barros, Arthur@Wildlife" userId="13f56b0b-3529-4413-b3c2-bd9e153a9954" providerId="ADAL" clId="{83F66843-D3E2-4209-914A-087BF0EB956C}" dt="2026-05-04T19:10:39.462" v="664" actId="20577"/>
          <ac:spMkLst>
            <pc:docMk/>
            <pc:sldMk cId="1089727942" sldId="299"/>
            <ac:spMk id="6" creationId="{CEE11691-0263-E527-4171-C386164255B2}"/>
          </ac:spMkLst>
        </pc:spChg>
      </pc:sldChg>
      <pc:sldChg chg="modSp add mod">
        <pc:chgData name="Barros, Arthur@Wildlife" userId="13f56b0b-3529-4413-b3c2-bd9e153a9954" providerId="ADAL" clId="{83F66843-D3E2-4209-914A-087BF0EB956C}" dt="2026-05-04T19:28:15.863" v="1323" actId="20577"/>
        <pc:sldMkLst>
          <pc:docMk/>
          <pc:sldMk cId="542964873" sldId="300"/>
        </pc:sldMkLst>
        <pc:spChg chg="mod">
          <ac:chgData name="Barros, Arthur@Wildlife" userId="13f56b0b-3529-4413-b3c2-bd9e153a9954" providerId="ADAL" clId="{83F66843-D3E2-4209-914A-087BF0EB956C}" dt="2026-05-04T19:28:15.863" v="1323" actId="20577"/>
          <ac:spMkLst>
            <pc:docMk/>
            <pc:sldMk cId="542964873" sldId="300"/>
            <ac:spMk id="5" creationId="{29CD0B1F-CBA9-9A0D-03E1-6716D4D7234E}"/>
          </ac:spMkLst>
        </pc:spChg>
        <pc:spChg chg="mod">
          <ac:chgData name="Barros, Arthur@Wildlife" userId="13f56b0b-3529-4413-b3c2-bd9e153a9954" providerId="ADAL" clId="{83F66843-D3E2-4209-914A-087BF0EB956C}" dt="2026-05-04T19:19:05.005" v="913" actId="20577"/>
          <ac:spMkLst>
            <pc:docMk/>
            <pc:sldMk cId="542964873" sldId="300"/>
            <ac:spMk id="6" creationId="{BF0AAA57-A2CD-C4DD-AABC-6DA093B31C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C6445-ED23-43CE-B5A1-91550B471FA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7A3B8-B596-47F6-9561-3111CF83D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2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15790-FC52-DF23-0900-9A89C010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726B5-F294-E13D-21B3-ED926932D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7C547-EE8F-6E29-FD53-55150BECF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5C113-12F8-BDC6-03DB-82280245B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8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4EB5-6679-D435-BE16-DB501434E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93F8C-E39E-3512-EDD3-ED644D268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AA3C2-FF8D-BE81-3D9E-F28A0AC6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755F-DFDF-3B1A-57F4-F2E6F93D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94BF-99CF-61D8-5DE0-7DE61FA2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4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09E5-94BE-25DD-0BF6-D90677D6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FF48-6D47-F314-7CC7-6A3896AAD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552CF-8AC1-754B-6AE5-4A66F75A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B56F1-93A8-6A30-76C7-74BAD7FA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238D2-5DFE-9EAB-773F-E3B4FB35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6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98EF-BBBE-ED3A-3C2C-2DACD571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48425-6CF1-D193-C248-6F78FDFE1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6CC9-1073-1700-7F87-955CBA25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C2031-097E-1E19-43B9-BADA3563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585D-0571-D619-1688-A42FB1E2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2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C8DA-FD05-DD76-4F4F-DF36C10DA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C26AC-7016-F875-1737-331B916E9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3E27D-FB48-24D4-074A-CEC31889A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75CC9-C28B-18BC-1DAB-6E629A86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393E6-4FBE-69A4-E764-3C7EE124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862F9-E5C1-26F8-595C-89719F68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4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6EF4-FDED-8F6E-21F1-DC332BEA5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9E616-F4BB-88A0-5FFB-EE59BBD0B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80191-2AA0-3B1F-AA7D-56E249F6B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D82C60-6B0F-C32D-74CF-8EB2CA051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7EDE3B-B437-0E5E-26E8-4B0D6C547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3911A-80BA-37EF-D60B-8B2C5AE4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3F487-809E-1900-6C1C-719287D7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60291F-4D0A-9492-A17B-EF03B6CD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8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F2E8-5AAE-9E5E-0422-2A281564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40438-D1CB-D59F-C5F5-7F3D4AAE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11CA-A996-3FA2-8C93-4EA4FF6E3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AEAC4-4C5A-14CB-3308-0E34D2E4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634584-ABE6-E071-5786-E6DC2FCB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CBC1C-F41D-9324-5B99-8D399F41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BCC90-5FC6-D0C3-B67B-BD3C0AD6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85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C064-5678-9AE5-A7A8-676009A4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0793C-6930-2233-2332-9608A29E2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86137-2CE0-00C1-882C-AE284F004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690FD-F0DD-1603-5B49-D49E87B4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24E50-E849-EF09-D349-8E7B1F3E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01938-7AB6-B694-1DAD-C1ACBDC0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53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2EE6-033E-EACC-0DE9-6987A21D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94C676-7148-8398-EC39-59DD080C6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88E17-07B4-BF1B-4F9E-F9F060EF7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9B2D5-A3AC-9B1B-B520-49BA156C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FB693-D072-B2B4-5D93-6F9DCACB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ED54B-0742-D759-F963-C08FF710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1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2594-2044-6A8D-EFF3-F39812DDC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329583-B1B2-2561-20C7-C8AF332F9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19971-E97D-EB32-A97A-C6C6B406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5E9F2-5F5C-5E40-2FC1-D0796519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6B681-1497-DD1E-99D1-CE9FFB91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6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1CAD1-4638-5B2E-C0F7-7489EC4C5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14269-7BCB-8880-C96F-23A5AA85A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8FEDA-F4CB-E14E-2D28-AE47242E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71A1C-76D8-4732-FC26-37521EE5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39D0F-B4C5-47E7-2943-BD605675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7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59BC-34CD-F546-199B-7C111FEF7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65F90-C306-58CE-BEA8-25FB6AEBD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631599"/>
            <a:ext cx="3643540" cy="476919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1E718F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7A9B63-5A41-C3DC-F351-2409C18447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81487" y="1631599"/>
            <a:ext cx="7910513" cy="47469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E80EE-C114-B206-6249-128EB26A5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1E71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EC882-4A7E-8B4F-F3FE-CE03E91E2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D20AB-A8E6-5838-CDC3-D01DFCDB5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0F9E-A61F-726D-45DA-D3E269E2A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F9A76-AE69-4078-B0A8-C46378DD53B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BC37A-A7D1-1942-6F01-BFABE2ED7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D9248-8C7A-F24A-B614-C616423DB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F87E5-E5E7-4A86-B04E-A2EE4F85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4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9D6C-5F23-AAA3-254E-EA43FB24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BD084F2-5783-882E-D899-A92D0315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RST_app</a:t>
            </a:r>
            <a:endParaRPr lang="en-US" b="1" dirty="0">
              <a:solidFill>
                <a:srgbClr val="1E718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DD647-95BB-4922-1138-B2053CA4B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110F2-12FD-0F6F-F1A1-CE43E82653E1}"/>
              </a:ext>
            </a:extLst>
          </p:cNvPr>
          <p:cNvGrpSpPr/>
          <p:nvPr/>
        </p:nvGrpSpPr>
        <p:grpSpPr>
          <a:xfrm>
            <a:off x="4884176" y="1899766"/>
            <a:ext cx="1682216" cy="1179126"/>
            <a:chOff x="820748" y="1738059"/>
            <a:chExt cx="1682216" cy="11791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37C711-FC49-20B0-7F7F-CE0173327951}"/>
                </a:ext>
              </a:extLst>
            </p:cNvPr>
            <p:cNvSpPr/>
            <p:nvPr/>
          </p:nvSpPr>
          <p:spPr>
            <a:xfrm>
              <a:off x="914400" y="1738059"/>
              <a:ext cx="1528654" cy="11791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4400FB-4966-D3DF-B2A9-6C9836F3D36A}"/>
                </a:ext>
              </a:extLst>
            </p:cNvPr>
            <p:cNvGrpSpPr/>
            <p:nvPr/>
          </p:nvGrpSpPr>
          <p:grpSpPr>
            <a:xfrm>
              <a:off x="820748" y="1787691"/>
              <a:ext cx="1682216" cy="1129494"/>
              <a:chOff x="622925" y="1710812"/>
              <a:chExt cx="1682216" cy="112949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030ECF-D9EC-DFA5-9005-9FBB79C0DC2B}"/>
                  </a:ext>
                </a:extLst>
              </p:cNvPr>
              <p:cNvSpPr txBox="1"/>
              <p:nvPr/>
            </p:nvSpPr>
            <p:spPr>
              <a:xfrm>
                <a:off x="622925" y="2470974"/>
                <a:ext cx="1682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est_passage.R</a:t>
                </a:r>
                <a:endParaRPr lang="en-US" dirty="0"/>
              </a:p>
            </p:txBody>
          </p:sp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196AFB0A-0EA2-8BC7-ECD8-BADFB3C330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3623" y="1710812"/>
                <a:ext cx="980820" cy="7601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8F64EF9-07A5-7B0F-7CB8-AE4ABE98B892}"/>
              </a:ext>
            </a:extLst>
          </p:cNvPr>
          <p:cNvSpPr txBox="1"/>
          <p:nvPr/>
        </p:nvSpPr>
        <p:spPr>
          <a:xfrm>
            <a:off x="865574" y="1452829"/>
            <a:ext cx="1731078" cy="10772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catch_data</a:t>
            </a:r>
            <a:endParaRPr lang="en-US" sz="1600" dirty="0"/>
          </a:p>
          <a:p>
            <a:r>
              <a:rPr lang="en-US" sz="1600" dirty="0" err="1"/>
              <a:t>visit_data</a:t>
            </a:r>
            <a:endParaRPr lang="en-US" sz="1600" dirty="0"/>
          </a:p>
          <a:p>
            <a:r>
              <a:rPr lang="en-US" sz="1600" dirty="0" err="1"/>
              <a:t>release_data</a:t>
            </a:r>
            <a:endParaRPr lang="en-US" sz="1600" dirty="0"/>
          </a:p>
          <a:p>
            <a:r>
              <a:rPr lang="en-US" sz="1600" dirty="0" err="1"/>
              <a:t>recapture_data</a:t>
            </a:r>
            <a:endParaRPr lang="en-US" sz="16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D8E6E7-479F-FE34-B14F-53FE5637BCEA}"/>
              </a:ext>
            </a:extLst>
          </p:cNvPr>
          <p:cNvCxnSpPr>
            <a:cxnSpLocks/>
          </p:cNvCxnSpPr>
          <p:nvPr/>
        </p:nvCxnSpPr>
        <p:spPr>
          <a:xfrm>
            <a:off x="2657245" y="1996506"/>
            <a:ext cx="2226931" cy="43841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4CC95C-BB11-AE31-622B-74A6623D944A}"/>
              </a:ext>
            </a:extLst>
          </p:cNvPr>
          <p:cNvSpPr txBox="1"/>
          <p:nvPr/>
        </p:nvSpPr>
        <p:spPr>
          <a:xfrm>
            <a:off x="2943749" y="4227667"/>
            <a:ext cx="14082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est_catch.R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A56400-E96D-A5B7-9A2F-CB0347AD6A34}"/>
              </a:ext>
            </a:extLst>
          </p:cNvPr>
          <p:cNvSpPr txBox="1"/>
          <p:nvPr/>
        </p:nvSpPr>
        <p:spPr>
          <a:xfrm>
            <a:off x="7555949" y="4213823"/>
            <a:ext cx="158856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est_efficiency.R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EA24D1-B2C4-ECEF-247D-D1E3C3B0FD1D}"/>
              </a:ext>
            </a:extLst>
          </p:cNvPr>
          <p:cNvSpPr txBox="1"/>
          <p:nvPr/>
        </p:nvSpPr>
        <p:spPr>
          <a:xfrm>
            <a:off x="849262" y="2638752"/>
            <a:ext cx="1731078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summarize.by</a:t>
            </a:r>
          </a:p>
          <a:p>
            <a:r>
              <a:rPr lang="en-US" sz="1600" dirty="0"/>
              <a:t>bootstrap</a:t>
            </a:r>
          </a:p>
          <a:p>
            <a:r>
              <a:rPr lang="en-US" sz="1600" dirty="0" err="1"/>
              <a:t>impute_all</a:t>
            </a:r>
            <a:endParaRPr lang="en-US" sz="1600" dirty="0"/>
          </a:p>
          <a:p>
            <a:r>
              <a:rPr lang="en-US" sz="1600" dirty="0" err="1"/>
              <a:t>survey_start</a:t>
            </a:r>
            <a:endParaRPr lang="en-US" sz="1600" dirty="0"/>
          </a:p>
          <a:p>
            <a:r>
              <a:rPr lang="en-US" sz="1600" dirty="0" err="1"/>
              <a:t>survey_end</a:t>
            </a:r>
            <a:endParaRPr lang="en-US" sz="16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FF2BE4-9407-51CD-9B0D-0B8883DB2B44}"/>
              </a:ext>
            </a:extLst>
          </p:cNvPr>
          <p:cNvCxnSpPr>
            <a:cxnSpLocks/>
          </p:cNvCxnSpPr>
          <p:nvPr/>
        </p:nvCxnSpPr>
        <p:spPr>
          <a:xfrm flipV="1">
            <a:off x="2572400" y="2750675"/>
            <a:ext cx="2262381" cy="5664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A31B61B-730C-567F-A193-23F44D3325B4}"/>
              </a:ext>
            </a:extLst>
          </p:cNvPr>
          <p:cNvCxnSpPr>
            <a:cxnSpLocks/>
          </p:cNvCxnSpPr>
          <p:nvPr/>
        </p:nvCxnSpPr>
        <p:spPr>
          <a:xfrm flipH="1">
            <a:off x="4236043" y="3203809"/>
            <a:ext cx="867043" cy="94534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DC0FB80F-440C-57BF-55C8-97C043471AA2}"/>
              </a:ext>
            </a:extLst>
          </p:cNvPr>
          <p:cNvSpPr txBox="1"/>
          <p:nvPr/>
        </p:nvSpPr>
        <p:spPr>
          <a:xfrm>
            <a:off x="5103086" y="4161278"/>
            <a:ext cx="1682216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 err="1"/>
              <a:t>calculate_sampling_time.R</a:t>
            </a:r>
            <a:endParaRPr lang="en-US" sz="900" dirty="0"/>
          </a:p>
          <a:p>
            <a:r>
              <a:rPr lang="en-US" sz="900" dirty="0" err="1"/>
              <a:t>fix_dates.R</a:t>
            </a:r>
            <a:endParaRPr lang="en-US" sz="900" dirty="0"/>
          </a:p>
          <a:p>
            <a:r>
              <a:rPr lang="en-US" sz="900" dirty="0" err="1"/>
              <a:t>assign_batch_date.R</a:t>
            </a:r>
            <a:endParaRPr lang="en-US" sz="900" dirty="0"/>
          </a:p>
        </p:txBody>
      </p: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F6B15FE2-1A22-4B89-431F-05A455CD8EC9}"/>
              </a:ext>
            </a:extLst>
          </p:cNvPr>
          <p:cNvCxnSpPr>
            <a:cxnSpLocks/>
          </p:cNvCxnSpPr>
          <p:nvPr/>
        </p:nvCxnSpPr>
        <p:spPr>
          <a:xfrm>
            <a:off x="6393712" y="3243670"/>
            <a:ext cx="1157999" cy="85084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A524965F-0CC9-C8F9-C056-43F46E6EC10C}"/>
              </a:ext>
            </a:extLst>
          </p:cNvPr>
          <p:cNvCxnSpPr>
            <a:cxnSpLocks/>
          </p:cNvCxnSpPr>
          <p:nvPr/>
        </p:nvCxnSpPr>
        <p:spPr>
          <a:xfrm flipH="1">
            <a:off x="4393716" y="4231185"/>
            <a:ext cx="663443" cy="4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6540CC88-DE68-A83C-90A0-DB163BD2B8AD}"/>
              </a:ext>
            </a:extLst>
          </p:cNvPr>
          <p:cNvCxnSpPr>
            <a:cxnSpLocks/>
          </p:cNvCxnSpPr>
          <p:nvPr/>
        </p:nvCxnSpPr>
        <p:spPr>
          <a:xfrm flipH="1">
            <a:off x="4397954" y="4383585"/>
            <a:ext cx="663443" cy="4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4520C1DE-9396-4909-DE37-F4054360DE59}"/>
              </a:ext>
            </a:extLst>
          </p:cNvPr>
          <p:cNvCxnSpPr>
            <a:cxnSpLocks/>
          </p:cNvCxnSpPr>
          <p:nvPr/>
        </p:nvCxnSpPr>
        <p:spPr>
          <a:xfrm flipH="1">
            <a:off x="4395927" y="4550232"/>
            <a:ext cx="663443" cy="4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F01DE073-C6C2-A481-00B3-74B4A9B878C6}"/>
              </a:ext>
            </a:extLst>
          </p:cNvPr>
          <p:cNvCxnSpPr>
            <a:cxnSpLocks/>
          </p:cNvCxnSpPr>
          <p:nvPr/>
        </p:nvCxnSpPr>
        <p:spPr>
          <a:xfrm flipH="1">
            <a:off x="6838904" y="4230700"/>
            <a:ext cx="663443" cy="4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138FBE94-5949-9410-F8DE-F23CC3865006}"/>
              </a:ext>
            </a:extLst>
          </p:cNvPr>
          <p:cNvCxnSpPr>
            <a:cxnSpLocks/>
          </p:cNvCxnSpPr>
          <p:nvPr/>
        </p:nvCxnSpPr>
        <p:spPr>
          <a:xfrm flipH="1">
            <a:off x="6843142" y="4383100"/>
            <a:ext cx="663443" cy="4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Arrow Connector 1064">
            <a:extLst>
              <a:ext uri="{FF2B5EF4-FFF2-40B4-BE49-F238E27FC236}">
                <a16:creationId xmlns:a16="http://schemas.microsoft.com/office/drawing/2014/main" id="{CF12B479-3A66-1EE0-DB5D-7F49730250C3}"/>
              </a:ext>
            </a:extLst>
          </p:cNvPr>
          <p:cNvCxnSpPr>
            <a:cxnSpLocks/>
          </p:cNvCxnSpPr>
          <p:nvPr/>
        </p:nvCxnSpPr>
        <p:spPr>
          <a:xfrm flipH="1">
            <a:off x="6841115" y="4549747"/>
            <a:ext cx="663443" cy="4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1" name="TextBox 1070">
            <a:extLst>
              <a:ext uri="{FF2B5EF4-FFF2-40B4-BE49-F238E27FC236}">
                <a16:creationId xmlns:a16="http://schemas.microsoft.com/office/drawing/2014/main" id="{6A083AD4-035C-56A8-BE8E-0DDCBA9E2C7A}"/>
              </a:ext>
            </a:extLst>
          </p:cNvPr>
          <p:cNvSpPr txBox="1"/>
          <p:nvPr/>
        </p:nvSpPr>
        <p:spPr>
          <a:xfrm>
            <a:off x="2806780" y="5056179"/>
            <a:ext cx="16822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model_catch.R</a:t>
            </a:r>
            <a:endParaRPr lang="en-US" dirty="0"/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DBDDDEFA-88A7-BD8F-F61C-85F7784D0B8C}"/>
              </a:ext>
            </a:extLst>
          </p:cNvPr>
          <p:cNvSpPr txBox="1"/>
          <p:nvPr/>
        </p:nvSpPr>
        <p:spPr>
          <a:xfrm>
            <a:off x="7551871" y="5147385"/>
            <a:ext cx="168221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model_efficiency.R</a:t>
            </a:r>
            <a:endParaRPr lang="en-US" sz="1400" dirty="0"/>
          </a:p>
        </p:txBody>
      </p:sp>
      <p:cxnSp>
        <p:nvCxnSpPr>
          <p:cNvPr id="1078" name="Straight Arrow Connector 1077">
            <a:extLst>
              <a:ext uri="{FF2B5EF4-FFF2-40B4-BE49-F238E27FC236}">
                <a16:creationId xmlns:a16="http://schemas.microsoft.com/office/drawing/2014/main" id="{EF2776C5-F357-F61C-E9CD-0B58B0F8B695}"/>
              </a:ext>
            </a:extLst>
          </p:cNvPr>
          <p:cNvCxnSpPr>
            <a:cxnSpLocks/>
          </p:cNvCxnSpPr>
          <p:nvPr/>
        </p:nvCxnSpPr>
        <p:spPr>
          <a:xfrm flipV="1">
            <a:off x="3971724" y="4640030"/>
            <a:ext cx="0" cy="36728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0B7E15EF-23DD-BF40-3676-21292B62089B}"/>
              </a:ext>
            </a:extLst>
          </p:cNvPr>
          <p:cNvCxnSpPr>
            <a:cxnSpLocks/>
          </p:cNvCxnSpPr>
          <p:nvPr/>
        </p:nvCxnSpPr>
        <p:spPr>
          <a:xfrm flipV="1">
            <a:off x="7694545" y="4596999"/>
            <a:ext cx="0" cy="48883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TextBox 1083">
            <a:extLst>
              <a:ext uri="{FF2B5EF4-FFF2-40B4-BE49-F238E27FC236}">
                <a16:creationId xmlns:a16="http://schemas.microsoft.com/office/drawing/2014/main" id="{D01BED6D-0FC1-7191-B4BE-C9524901E489}"/>
              </a:ext>
            </a:extLst>
          </p:cNvPr>
          <p:cNvSpPr txBox="1"/>
          <p:nvPr/>
        </p:nvSpPr>
        <p:spPr>
          <a:xfrm>
            <a:off x="8603789" y="4747276"/>
            <a:ext cx="168221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find_visits_near_release.R</a:t>
            </a:r>
            <a:endParaRPr lang="en-US" sz="1000" dirty="0"/>
          </a:p>
        </p:txBody>
      </p:sp>
      <p:cxnSp>
        <p:nvCxnSpPr>
          <p:cNvPr id="1086" name="Straight Arrow Connector 1085">
            <a:extLst>
              <a:ext uri="{FF2B5EF4-FFF2-40B4-BE49-F238E27FC236}">
                <a16:creationId xmlns:a16="http://schemas.microsoft.com/office/drawing/2014/main" id="{B8F73A6B-B9F9-144B-488C-5C18DD4DFA9D}"/>
              </a:ext>
            </a:extLst>
          </p:cNvPr>
          <p:cNvCxnSpPr>
            <a:cxnSpLocks/>
            <a:stCxn id="1084" idx="0"/>
            <a:endCxn id="24" idx="3"/>
          </p:cNvCxnSpPr>
          <p:nvPr/>
        </p:nvCxnSpPr>
        <p:spPr>
          <a:xfrm flipH="1" flipV="1">
            <a:off x="9144513" y="4383100"/>
            <a:ext cx="300384" cy="36417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TextBox 1096">
            <a:extLst>
              <a:ext uri="{FF2B5EF4-FFF2-40B4-BE49-F238E27FC236}">
                <a16:creationId xmlns:a16="http://schemas.microsoft.com/office/drawing/2014/main" id="{12CB0752-F8A1-C486-F0E8-AC51EAC4E91C}"/>
              </a:ext>
            </a:extLst>
          </p:cNvPr>
          <p:cNvSpPr txBox="1"/>
          <p:nvPr/>
        </p:nvSpPr>
        <p:spPr>
          <a:xfrm>
            <a:off x="7694545" y="3078892"/>
            <a:ext cx="189285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passage_boot.R</a:t>
            </a:r>
            <a:endParaRPr lang="en-US" sz="1600" dirty="0"/>
          </a:p>
        </p:txBody>
      </p:sp>
      <p:cxnSp>
        <p:nvCxnSpPr>
          <p:cNvPr id="1098" name="Straight Arrow Connector 1097">
            <a:extLst>
              <a:ext uri="{FF2B5EF4-FFF2-40B4-BE49-F238E27FC236}">
                <a16:creationId xmlns:a16="http://schemas.microsoft.com/office/drawing/2014/main" id="{4B79FFC2-BA4C-C2BE-CC05-A3897B82E0DC}"/>
              </a:ext>
            </a:extLst>
          </p:cNvPr>
          <p:cNvCxnSpPr>
            <a:cxnSpLocks/>
          </p:cNvCxnSpPr>
          <p:nvPr/>
        </p:nvCxnSpPr>
        <p:spPr>
          <a:xfrm flipH="1" flipV="1">
            <a:off x="6524839" y="2883665"/>
            <a:ext cx="1128153" cy="3539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3AC842C-A473-DCE0-3329-23F7D98717D1}"/>
              </a:ext>
            </a:extLst>
          </p:cNvPr>
          <p:cNvSpPr txBox="1"/>
          <p:nvPr/>
        </p:nvSpPr>
        <p:spPr>
          <a:xfrm>
            <a:off x="7897369" y="1545380"/>
            <a:ext cx="1892851" cy="10772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passage_estimates</a:t>
            </a:r>
            <a:endParaRPr lang="en-US" sz="1600" dirty="0"/>
          </a:p>
          <a:p>
            <a:pPr algn="ctr"/>
            <a:r>
              <a:rPr lang="en-US" sz="1600" dirty="0" err="1"/>
              <a:t>efficiency_results</a:t>
            </a:r>
            <a:endParaRPr lang="en-US" sz="1600" dirty="0"/>
          </a:p>
          <a:p>
            <a:pPr algn="ctr"/>
            <a:r>
              <a:rPr lang="en-US" sz="1600" dirty="0" err="1"/>
              <a:t>catch_results</a:t>
            </a:r>
            <a:endParaRPr lang="en-US" sz="1600" dirty="0"/>
          </a:p>
          <a:p>
            <a:pPr algn="ctr"/>
            <a:r>
              <a:rPr lang="en-US" sz="1600" dirty="0"/>
              <a:t>summary plots</a:t>
            </a:r>
          </a:p>
        </p:txBody>
      </p:sp>
      <p:cxnSp>
        <p:nvCxnSpPr>
          <p:cNvPr id="1106" name="Straight Arrow Connector 1105">
            <a:extLst>
              <a:ext uri="{FF2B5EF4-FFF2-40B4-BE49-F238E27FC236}">
                <a16:creationId xmlns:a16="http://schemas.microsoft.com/office/drawing/2014/main" id="{AFF0A3B8-EBD8-FEF9-5188-91DC1BF91691}"/>
              </a:ext>
            </a:extLst>
          </p:cNvPr>
          <p:cNvCxnSpPr>
            <a:cxnSpLocks/>
          </p:cNvCxnSpPr>
          <p:nvPr/>
        </p:nvCxnSpPr>
        <p:spPr>
          <a:xfrm>
            <a:off x="6555877" y="2330560"/>
            <a:ext cx="120153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CD32D64-CD6D-F599-9041-7FDB1E87E952}"/>
              </a:ext>
            </a:extLst>
          </p:cNvPr>
          <p:cNvSpPr txBox="1"/>
          <p:nvPr/>
        </p:nvSpPr>
        <p:spPr>
          <a:xfrm>
            <a:off x="9985621" y="5640765"/>
            <a:ext cx="203187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summarize_index.R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3D82D-363B-050B-0FD5-607FF739383A}"/>
              </a:ext>
            </a:extLst>
          </p:cNvPr>
          <p:cNvSpPr txBox="1"/>
          <p:nvPr/>
        </p:nvSpPr>
        <p:spPr>
          <a:xfrm>
            <a:off x="9790219" y="3962191"/>
            <a:ext cx="222728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summarize_passage.R</a:t>
            </a:r>
            <a:endParaRPr lang="en-US" sz="16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53F0ECB-AC8B-D233-D372-0D077E3D595C}"/>
              </a:ext>
            </a:extLst>
          </p:cNvPr>
          <p:cNvCxnSpPr>
            <a:cxnSpLocks/>
          </p:cNvCxnSpPr>
          <p:nvPr/>
        </p:nvCxnSpPr>
        <p:spPr>
          <a:xfrm>
            <a:off x="10942938" y="4412333"/>
            <a:ext cx="0" cy="11773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36D742-784D-2274-AA0E-C97173FE74AA}"/>
              </a:ext>
            </a:extLst>
          </p:cNvPr>
          <p:cNvCxnSpPr>
            <a:cxnSpLocks/>
            <a:endCxn id="1097" idx="3"/>
          </p:cNvCxnSpPr>
          <p:nvPr/>
        </p:nvCxnSpPr>
        <p:spPr>
          <a:xfrm flipH="1" flipV="1">
            <a:off x="9587396" y="3248169"/>
            <a:ext cx="1116890" cy="66491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1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9878-75B8-C32C-B344-EBD7E99E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F9B91B-255F-F8AE-F1F6-8A09B72CC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Incorporate other species/run estimates.</a:t>
            </a:r>
          </a:p>
          <a:p>
            <a:r>
              <a:rPr lang="en-US" dirty="0">
                <a:solidFill>
                  <a:schemeClr val="accent1"/>
                </a:solidFill>
              </a:rPr>
              <a:t>Ensure only allowing species/runs which were used in efficiency trials.</a:t>
            </a:r>
          </a:p>
          <a:p>
            <a:r>
              <a:rPr lang="en-US" dirty="0">
                <a:solidFill>
                  <a:schemeClr val="accent1"/>
                </a:solidFill>
              </a:rPr>
              <a:t>Should users have to filter species/run before loading?</a:t>
            </a:r>
          </a:p>
          <a:p>
            <a:r>
              <a:rPr lang="en-US" dirty="0"/>
              <a:t>Hatchery vs wild fish for efficiency trials? How to incorporate this in efficiency modeling?</a:t>
            </a:r>
          </a:p>
          <a:p>
            <a:r>
              <a:rPr lang="en-US" dirty="0"/>
              <a:t>On Moke, have </a:t>
            </a:r>
            <a:r>
              <a:rPr lang="en-US"/>
              <a:t>used salmon eff trials to inform steelhead passage.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Model output reports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User guide</a:t>
            </a:r>
          </a:p>
          <a:p>
            <a:r>
              <a:rPr lang="en-US" dirty="0">
                <a:solidFill>
                  <a:schemeClr val="accent1"/>
                </a:solidFill>
              </a:rPr>
              <a:t>Data formatting requirements.</a:t>
            </a:r>
          </a:p>
          <a:p>
            <a:r>
              <a:rPr lang="en-US" dirty="0">
                <a:solidFill>
                  <a:schemeClr val="accent1"/>
                </a:solidFill>
              </a:rPr>
              <a:t>Input options and out put information.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/>
              <a:t>Methods documentation:</a:t>
            </a:r>
          </a:p>
          <a:p>
            <a:r>
              <a:rPr lang="en-US" dirty="0">
                <a:solidFill>
                  <a:schemeClr val="accent1"/>
                </a:solidFill>
              </a:rPr>
              <a:t>Detailed documentation that covers each function, inputs, outputs, and how modeling imputation is performed.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CEE11691-0263-E527-4171-C386164255B2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RST_app</a:t>
            </a:r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 next steps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958B0F-FF44-1186-5003-B7D9BB3E3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4B0B82D-0E0A-BF81-1D4C-658720DC7F6B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2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724A-A679-63F6-B34C-C46EB026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CD0B1F-CBA9-9A0D-03E1-6716D4D72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Start with just flow.</a:t>
            </a:r>
          </a:p>
          <a:p>
            <a:r>
              <a:rPr lang="en-US" dirty="0">
                <a:solidFill>
                  <a:schemeClr val="accent1"/>
                </a:solidFill>
              </a:rPr>
              <a:t>Allow user option to include flow or not.</a:t>
            </a:r>
          </a:p>
          <a:p>
            <a:r>
              <a:rPr lang="en-US" dirty="0">
                <a:solidFill>
                  <a:schemeClr val="accent1"/>
                </a:solidFill>
              </a:rPr>
              <a:t>Incorporate flow data with efficiency trials.</a:t>
            </a:r>
          </a:p>
          <a:p>
            <a:r>
              <a:rPr lang="en-US" dirty="0">
                <a:solidFill>
                  <a:schemeClr val="accent1"/>
                </a:solidFill>
              </a:rPr>
              <a:t>The harder part: have functions automatically compare AIC values between: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time (and all spline options)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flow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flow + time (and all spline options)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BF0AAA57-A2CD-C4DD-AABC-6DA093B31C9E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RST_app</a:t>
            </a:r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 incorporating covariates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3CA1D6-29FD-3D48-521E-3C3BCE902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E9287AA-F4CE-237C-E97F-F2F5717A8B5F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64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985E-47B5-D8D2-FA2B-C2D47AE7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7">
            <a:extLst>
              <a:ext uri="{FF2B5EF4-FFF2-40B4-BE49-F238E27FC236}">
                <a16:creationId xmlns:a16="http://schemas.microsoft.com/office/drawing/2014/main" id="{9383F815-9C8A-7C54-40E9-BC6FD6331EAC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RST_app</a:t>
            </a:r>
            <a:endParaRPr lang="en-US" b="1" dirty="0">
              <a:solidFill>
                <a:srgbClr val="1E718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5D817A-9118-6C4B-93B1-9F119C68F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63F6B45-2475-4FCE-C833-ED248192F783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DCDE52-A358-7EDA-A6BA-5C54F5E87668}"/>
              </a:ext>
            </a:extLst>
          </p:cNvPr>
          <p:cNvGrpSpPr/>
          <p:nvPr/>
        </p:nvGrpSpPr>
        <p:grpSpPr>
          <a:xfrm>
            <a:off x="146048" y="2513573"/>
            <a:ext cx="1835150" cy="1830854"/>
            <a:chOff x="380998" y="2582396"/>
            <a:chExt cx="1835150" cy="183085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0415718-ADD8-77E3-EF53-E96EE3CB6AE9}"/>
                </a:ext>
              </a:extLst>
            </p:cNvPr>
            <p:cNvSpPr/>
            <p:nvPr/>
          </p:nvSpPr>
          <p:spPr>
            <a:xfrm>
              <a:off x="450850" y="2582396"/>
              <a:ext cx="1682750" cy="18308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 descr="Clipboard with solid fill">
              <a:extLst>
                <a:ext uri="{FF2B5EF4-FFF2-40B4-BE49-F238E27FC236}">
                  <a16:creationId xmlns:a16="http://schemas.microsoft.com/office/drawing/2014/main" id="{4B3A0178-E5CB-AD54-3D61-F5D47D4840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0998" y="3287711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Clipboard outline">
              <a:extLst>
                <a:ext uri="{FF2B5EF4-FFF2-40B4-BE49-F238E27FC236}">
                  <a16:creationId xmlns:a16="http://schemas.microsoft.com/office/drawing/2014/main" id="{D9210CA1-009E-A7B6-67BA-8E0EC42CB5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01748" y="3287711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5E4EF2-6ED9-42EC-440B-0B693D40AB50}"/>
                </a:ext>
              </a:extLst>
            </p:cNvPr>
            <p:cNvSpPr txBox="1"/>
            <p:nvPr/>
          </p:nvSpPr>
          <p:spPr>
            <a:xfrm>
              <a:off x="565150" y="2589869"/>
              <a:ext cx="14541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replicate CAMPR package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706403-7C3D-8568-9050-DF35E9D61AB1}"/>
                </a:ext>
              </a:extLst>
            </p:cNvPr>
            <p:cNvCxnSpPr/>
            <p:nvPr/>
          </p:nvCxnSpPr>
          <p:spPr>
            <a:xfrm>
              <a:off x="1149350" y="3744911"/>
              <a:ext cx="317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B32CA8C-D39D-4F02-27F0-A42D582D6BE6}"/>
              </a:ext>
            </a:extLst>
          </p:cNvPr>
          <p:cNvGrpSpPr/>
          <p:nvPr/>
        </p:nvGrpSpPr>
        <p:grpSpPr>
          <a:xfrm>
            <a:off x="4193678" y="2513573"/>
            <a:ext cx="1682750" cy="1830854"/>
            <a:chOff x="6762750" y="2500407"/>
            <a:chExt cx="1682750" cy="183085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E18159C-BA42-7FC8-0E8E-731970279C01}"/>
                </a:ext>
              </a:extLst>
            </p:cNvPr>
            <p:cNvGrpSpPr/>
            <p:nvPr/>
          </p:nvGrpSpPr>
          <p:grpSpPr>
            <a:xfrm>
              <a:off x="6762750" y="2500407"/>
              <a:ext cx="1682750" cy="1830854"/>
              <a:chOff x="450850" y="2582396"/>
              <a:chExt cx="1682750" cy="183085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7542716-DEDE-0B34-EDD6-53A0D9D2734E}"/>
                  </a:ext>
                </a:extLst>
              </p:cNvPr>
              <p:cNvSpPr/>
              <p:nvPr/>
            </p:nvSpPr>
            <p:spPr>
              <a:xfrm>
                <a:off x="450850" y="2582396"/>
                <a:ext cx="1682750" cy="1830854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DAC772-C80F-2608-9D4C-33DD794DC885}"/>
                  </a:ext>
                </a:extLst>
              </p:cNvPr>
              <p:cNvSpPr txBox="1"/>
              <p:nvPr/>
            </p:nvSpPr>
            <p:spPr>
              <a:xfrm>
                <a:off x="565150" y="2589869"/>
                <a:ext cx="14541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Shiny application</a:t>
                </a:r>
              </a:p>
            </p:txBody>
          </p:sp>
        </p:grpSp>
        <p:pic>
          <p:nvPicPr>
            <p:cNvPr id="22" name="Graphic 21" descr="Packing Box Open with solid fill">
              <a:extLst>
                <a:ext uri="{FF2B5EF4-FFF2-40B4-BE49-F238E27FC236}">
                  <a16:creationId xmlns:a16="http://schemas.microsoft.com/office/drawing/2014/main" id="{80E8AB34-82CD-BBBD-1DD0-3C5A0F1ED2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46925" y="3205722"/>
              <a:ext cx="914400" cy="914400"/>
            </a:xfrm>
            <a:prstGeom prst="rect">
              <a:avLst/>
            </a:prstGeom>
          </p:spPr>
        </p:pic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D2DB0E-95A8-56F7-90ED-A0BA8801594C}"/>
              </a:ext>
            </a:extLst>
          </p:cNvPr>
          <p:cNvCxnSpPr>
            <a:cxnSpLocks/>
          </p:cNvCxnSpPr>
          <p:nvPr/>
        </p:nvCxnSpPr>
        <p:spPr>
          <a:xfrm>
            <a:off x="1944370" y="3469078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647EBE-9087-397C-185A-68F724747A9F}"/>
              </a:ext>
            </a:extLst>
          </p:cNvPr>
          <p:cNvGrpSpPr/>
          <p:nvPr/>
        </p:nvGrpSpPr>
        <p:grpSpPr>
          <a:xfrm>
            <a:off x="6178550" y="2513573"/>
            <a:ext cx="1682750" cy="1830854"/>
            <a:chOff x="4603750" y="2493961"/>
            <a:chExt cx="1682750" cy="183085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EF4B2F7-563F-9461-7FC6-4F11FF397CC4}"/>
                </a:ext>
              </a:extLst>
            </p:cNvPr>
            <p:cNvGrpSpPr/>
            <p:nvPr/>
          </p:nvGrpSpPr>
          <p:grpSpPr>
            <a:xfrm>
              <a:off x="4603750" y="2493961"/>
              <a:ext cx="1682750" cy="1830854"/>
              <a:chOff x="450850" y="2582396"/>
              <a:chExt cx="1682750" cy="1830854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EE8B5E9-00B3-4A48-F39F-51AF1DCB815F}"/>
                  </a:ext>
                </a:extLst>
              </p:cNvPr>
              <p:cNvSpPr/>
              <p:nvPr/>
            </p:nvSpPr>
            <p:spPr>
              <a:xfrm>
                <a:off x="450850" y="2582396"/>
                <a:ext cx="1682750" cy="1830854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FEB41F-7DB0-C1C5-A65A-88DA45844F07}"/>
                  </a:ext>
                </a:extLst>
              </p:cNvPr>
              <p:cNvSpPr txBox="1"/>
              <p:nvPr/>
            </p:nvSpPr>
            <p:spPr>
              <a:xfrm>
                <a:off x="565150" y="2589869"/>
                <a:ext cx="14541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Detailed documentation</a:t>
                </a:r>
              </a:p>
            </p:txBody>
          </p:sp>
        </p:grpSp>
        <p:pic>
          <p:nvPicPr>
            <p:cNvPr id="31" name="Graphic 30" descr="List with solid fill">
              <a:extLst>
                <a:ext uri="{FF2B5EF4-FFF2-40B4-BE49-F238E27FC236}">
                  <a16:creationId xmlns:a16="http://schemas.microsoft.com/office/drawing/2014/main" id="{48D922D4-444B-3556-136F-80E8587CD7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87925" y="3217534"/>
              <a:ext cx="914400" cy="9144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35A63B-3BF3-BABC-9D01-2BA8AB738640}"/>
              </a:ext>
            </a:extLst>
          </p:cNvPr>
          <p:cNvGrpSpPr/>
          <p:nvPr/>
        </p:nvGrpSpPr>
        <p:grpSpPr>
          <a:xfrm>
            <a:off x="2200275" y="2514791"/>
            <a:ext cx="1682750" cy="1830854"/>
            <a:chOff x="2444750" y="2513573"/>
            <a:chExt cx="1682750" cy="183085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8D0D90D-5751-854E-B015-1B8473C92370}"/>
                </a:ext>
              </a:extLst>
            </p:cNvPr>
            <p:cNvGrpSpPr/>
            <p:nvPr/>
          </p:nvGrpSpPr>
          <p:grpSpPr>
            <a:xfrm>
              <a:off x="2444750" y="2513573"/>
              <a:ext cx="1682750" cy="1830854"/>
              <a:chOff x="450850" y="2582396"/>
              <a:chExt cx="1682750" cy="1830854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3B24A117-1075-6C68-53A4-692A6BBEE33A}"/>
                  </a:ext>
                </a:extLst>
              </p:cNvPr>
              <p:cNvSpPr/>
              <p:nvPr/>
            </p:nvSpPr>
            <p:spPr>
              <a:xfrm>
                <a:off x="450850" y="2582396"/>
                <a:ext cx="1682750" cy="183085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7AA0C1-383D-26D2-CC6F-A637516CB0BE}"/>
                  </a:ext>
                </a:extLst>
              </p:cNvPr>
              <p:cNvSpPr txBox="1"/>
              <p:nvPr/>
            </p:nvSpPr>
            <p:spPr>
              <a:xfrm>
                <a:off x="565150" y="2589869"/>
                <a:ext cx="145415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Testing with real and simulated data</a:t>
                </a:r>
              </a:p>
            </p:txBody>
          </p:sp>
        </p:grpSp>
        <p:pic>
          <p:nvPicPr>
            <p:cNvPr id="40" name="Graphic 39" descr="Statistics with solid fill">
              <a:extLst>
                <a:ext uri="{FF2B5EF4-FFF2-40B4-BE49-F238E27FC236}">
                  <a16:creationId xmlns:a16="http://schemas.microsoft.com/office/drawing/2014/main" id="{CB4937B4-E741-9619-63B4-050B300888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25750" y="3204834"/>
              <a:ext cx="914400" cy="9144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2A7A0AC-E341-8865-7630-52B413C219D9}"/>
              </a:ext>
            </a:extLst>
          </p:cNvPr>
          <p:cNvGrpSpPr/>
          <p:nvPr/>
        </p:nvGrpSpPr>
        <p:grpSpPr>
          <a:xfrm>
            <a:off x="8156575" y="2521046"/>
            <a:ext cx="1682750" cy="1830854"/>
            <a:chOff x="450850" y="2582396"/>
            <a:chExt cx="1682750" cy="1830854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D0974A3-CE2B-43BD-64D9-0A4A10C9D086}"/>
                </a:ext>
              </a:extLst>
            </p:cNvPr>
            <p:cNvSpPr/>
            <p:nvPr/>
          </p:nvSpPr>
          <p:spPr>
            <a:xfrm>
              <a:off x="450850" y="2582396"/>
              <a:ext cx="1682750" cy="1830854"/>
            </a:xfrm>
            <a:prstGeom prst="roundRect">
              <a:avLst/>
            </a:prstGeom>
            <a:solidFill>
              <a:srgbClr val="F7F2C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3F9261-69D8-4785-1AF4-505376ADB9D2}"/>
                </a:ext>
              </a:extLst>
            </p:cNvPr>
            <p:cNvSpPr txBox="1"/>
            <p:nvPr/>
          </p:nvSpPr>
          <p:spPr>
            <a:xfrm>
              <a:off x="565150" y="2589869"/>
              <a:ext cx="14541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Initial rollout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CC6319-B32B-04D1-71F1-85867A5CE46E}"/>
              </a:ext>
            </a:extLst>
          </p:cNvPr>
          <p:cNvGrpSpPr/>
          <p:nvPr/>
        </p:nvGrpSpPr>
        <p:grpSpPr>
          <a:xfrm>
            <a:off x="10140950" y="2513573"/>
            <a:ext cx="1682750" cy="1830854"/>
            <a:chOff x="450850" y="2582396"/>
            <a:chExt cx="1682750" cy="183085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1C559B8-9259-2916-9FC5-30435C4FBDEF}"/>
                </a:ext>
              </a:extLst>
            </p:cNvPr>
            <p:cNvSpPr/>
            <p:nvPr/>
          </p:nvSpPr>
          <p:spPr>
            <a:xfrm>
              <a:off x="450850" y="2582396"/>
              <a:ext cx="1682750" cy="1830854"/>
            </a:xfrm>
            <a:prstGeom prst="roundRect">
              <a:avLst/>
            </a:prstGeom>
            <a:solidFill>
              <a:srgbClr val="D3EAE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2A3F922-A1E2-076C-0760-C0C3A352581E}"/>
                </a:ext>
              </a:extLst>
            </p:cNvPr>
            <p:cNvSpPr txBox="1"/>
            <p:nvPr/>
          </p:nvSpPr>
          <p:spPr>
            <a:xfrm>
              <a:off x="565150" y="2589869"/>
              <a:ext cx="14541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Continued support and updates</a:t>
              </a:r>
            </a:p>
          </p:txBody>
        </p:sp>
      </p:grpSp>
      <p:pic>
        <p:nvPicPr>
          <p:cNvPr id="55" name="Graphic 54" descr="Upload outline">
            <a:extLst>
              <a:ext uri="{FF2B5EF4-FFF2-40B4-BE49-F238E27FC236}">
                <a16:creationId xmlns:a16="http://schemas.microsoft.com/office/drawing/2014/main" id="{27937839-03E7-A4E4-DED2-FD4D6F4301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5200" y="3206614"/>
            <a:ext cx="914400" cy="914400"/>
          </a:xfrm>
          <a:prstGeom prst="rect">
            <a:avLst/>
          </a:prstGeom>
        </p:spPr>
      </p:pic>
      <p:pic>
        <p:nvPicPr>
          <p:cNvPr id="57" name="Graphic 56" descr="Syncing cloud outline">
            <a:extLst>
              <a:ext uri="{FF2B5EF4-FFF2-40B4-BE49-F238E27FC236}">
                <a16:creationId xmlns:a16="http://schemas.microsoft.com/office/drawing/2014/main" id="{6BF11683-9A48-EBA1-7C08-51BF47074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25125" y="3152477"/>
            <a:ext cx="914400" cy="914400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6B9FC47-EC84-9F00-77EA-E6AB9831F75B}"/>
              </a:ext>
            </a:extLst>
          </p:cNvPr>
          <p:cNvCxnSpPr>
            <a:cxnSpLocks/>
          </p:cNvCxnSpPr>
          <p:nvPr/>
        </p:nvCxnSpPr>
        <p:spPr>
          <a:xfrm>
            <a:off x="3920490" y="3444240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10B14F0-12C3-C958-1C83-F46E135B3527}"/>
              </a:ext>
            </a:extLst>
          </p:cNvPr>
          <p:cNvCxnSpPr>
            <a:cxnSpLocks/>
          </p:cNvCxnSpPr>
          <p:nvPr/>
        </p:nvCxnSpPr>
        <p:spPr>
          <a:xfrm>
            <a:off x="5927090" y="3453838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5BAD875-D4D2-8EE5-890A-378BBD616BDA}"/>
              </a:ext>
            </a:extLst>
          </p:cNvPr>
          <p:cNvCxnSpPr>
            <a:cxnSpLocks/>
          </p:cNvCxnSpPr>
          <p:nvPr/>
        </p:nvCxnSpPr>
        <p:spPr>
          <a:xfrm>
            <a:off x="7903210" y="3429000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FD40D10-EB23-DC39-B50A-EA6173682D80}"/>
              </a:ext>
            </a:extLst>
          </p:cNvPr>
          <p:cNvCxnSpPr>
            <a:cxnSpLocks/>
          </p:cNvCxnSpPr>
          <p:nvPr/>
        </p:nvCxnSpPr>
        <p:spPr>
          <a:xfrm>
            <a:off x="9889490" y="3444240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D9F8171-B597-15EE-A6F1-2738ACCC7CAA}"/>
              </a:ext>
            </a:extLst>
          </p:cNvPr>
          <p:cNvCxnSpPr/>
          <p:nvPr/>
        </p:nvCxnSpPr>
        <p:spPr>
          <a:xfrm>
            <a:off x="7003046" y="1249553"/>
            <a:ext cx="0" cy="126402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78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E71B-3A0B-2609-1C22-BB459149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1422DD-C927-3AC8-8562-35E41AD2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Option 1:</a:t>
            </a:r>
          </a:p>
          <a:p>
            <a:r>
              <a:rPr lang="en-US" dirty="0">
                <a:solidFill>
                  <a:schemeClr val="accent1"/>
                </a:solidFill>
              </a:rPr>
              <a:t>Create documentation for </a:t>
            </a:r>
            <a:r>
              <a:rPr lang="en-US" dirty="0" err="1">
                <a:solidFill>
                  <a:schemeClr val="accent1"/>
                </a:solidFill>
              </a:rPr>
              <a:t>RST_app</a:t>
            </a:r>
            <a:r>
              <a:rPr lang="en-US" dirty="0">
                <a:solidFill>
                  <a:schemeClr val="accent1"/>
                </a:solidFill>
              </a:rPr>
              <a:t> in current base state.</a:t>
            </a:r>
          </a:p>
          <a:p>
            <a:r>
              <a:rPr lang="en-US" dirty="0">
                <a:solidFill>
                  <a:schemeClr val="accent1"/>
                </a:solidFill>
              </a:rPr>
              <a:t>Schedule meeting with potential users for early Summer.</a:t>
            </a:r>
          </a:p>
          <a:p>
            <a:r>
              <a:rPr lang="en-US" dirty="0">
                <a:solidFill>
                  <a:schemeClr val="accent1"/>
                </a:solidFill>
              </a:rPr>
              <a:t>Aim for initial rollout based on feedback.</a:t>
            </a:r>
          </a:p>
          <a:p>
            <a:r>
              <a:rPr lang="en-US" dirty="0">
                <a:solidFill>
                  <a:schemeClr val="accent1"/>
                </a:solidFill>
              </a:rPr>
              <a:t>Add covariate modeling after initial rollout.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/>
              <a:t>Option 2:</a:t>
            </a:r>
          </a:p>
          <a:p>
            <a:r>
              <a:rPr lang="en-US" dirty="0">
                <a:solidFill>
                  <a:schemeClr val="accent1"/>
                </a:solidFill>
              </a:rPr>
              <a:t>Try and add flow covariate modeling first, </a:t>
            </a:r>
            <a:r>
              <a:rPr lang="en-US" i="1" dirty="0">
                <a:solidFill>
                  <a:schemeClr val="accent1"/>
                </a:solidFill>
              </a:rPr>
              <a:t>then </a:t>
            </a:r>
            <a:r>
              <a:rPr lang="en-US" dirty="0">
                <a:solidFill>
                  <a:schemeClr val="accent1"/>
                </a:solidFill>
              </a:rPr>
              <a:t>create documentation.</a:t>
            </a:r>
          </a:p>
          <a:p>
            <a:r>
              <a:rPr lang="en-US" dirty="0">
                <a:solidFill>
                  <a:schemeClr val="accent1"/>
                </a:solidFill>
              </a:rPr>
              <a:t>Schedule meeting with potential users for late Summer.</a:t>
            </a:r>
          </a:p>
          <a:p>
            <a:r>
              <a:rPr lang="en-US" dirty="0">
                <a:solidFill>
                  <a:schemeClr val="accent1"/>
                </a:solidFill>
              </a:rPr>
              <a:t>Aim for initial rollout based on feedback.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D28AA9F-5446-B1CF-B025-5B21B179CDFE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Potential next steps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8EF5D3-4C3D-065E-7C3B-99EC1CFD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8319408-54BF-3834-9EDB-67E0D36B255E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347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39220-6370-CAD5-6732-4E0E7A90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1E2D9D-A303-61FF-0B99-3D8B2AF3F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Knights Landing: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2021-01-19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2021-06-30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Demo data (Feather):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2022-01-01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2022-06-30</a:t>
            </a:r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957DCE87-65F3-3975-7D03-33D8F567F965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Testing data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BB7F84-27F4-6479-A2EC-66D317480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1094CBB-7314-B98A-38A4-36B3AF43AE6A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796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380</Words>
  <Application>Microsoft Office PowerPoint</Application>
  <PresentationFormat>Widescreen</PresentationFormat>
  <Paragraphs>76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Century Gothic</vt:lpstr>
      <vt:lpstr>Office Theme</vt:lpstr>
      <vt:lpstr>RST_app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Barros, Arthur@Wildlife</dc:creator>
  <cp:lastModifiedBy>Barros, Arthur@Wildlife</cp:lastModifiedBy>
  <cp:revision>1</cp:revision>
  <dcterms:created xsi:type="dcterms:W3CDTF">2026-05-04T15:01:33Z</dcterms:created>
  <dcterms:modified xsi:type="dcterms:W3CDTF">2026-05-04T20:19:06Z</dcterms:modified>
</cp:coreProperties>
</file>